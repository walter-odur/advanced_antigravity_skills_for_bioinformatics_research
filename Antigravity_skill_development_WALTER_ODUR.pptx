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272" r:id="rId3"/>
    <p:sldId id="296" r:id="rId4"/>
    <p:sldId id="295" r:id="rId5"/>
    <p:sldId id="285" r:id="rId6"/>
    <p:sldId id="294" r:id="rId7"/>
    <p:sldId id="277" r:id="rId8"/>
    <p:sldId id="288" r:id="rId9"/>
    <p:sldId id="265" r:id="rId10"/>
    <p:sldId id="283" r:id="rId11"/>
    <p:sldId id="286" r:id="rId12"/>
    <p:sldId id="282" r:id="rId13"/>
    <p:sldId id="270" r:id="rId14"/>
    <p:sldId id="292" r:id="rId15"/>
    <p:sldId id="291" r:id="rId16"/>
    <p:sldId id="290" r:id="rId17"/>
    <p:sldId id="28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45999"/>
    <a:srgbClr val="48927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3447" autoAdjust="0"/>
  </p:normalViewPr>
  <p:slideViewPr>
    <p:cSldViewPr snapToGrid="0" snapToObjects="1">
      <p:cViewPr varScale="1">
        <p:scale>
          <a:sx n="59" d="100"/>
          <a:sy n="59" d="100"/>
        </p:scale>
        <p:origin x="10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065A2-7571-4B3E-BDCC-981A9146CF8D}" type="datetimeFigureOut">
              <a:rPr lang="en-UG" smtClean="0"/>
              <a:t>06/10/2026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C51B4-90A3-4E77-B7A2-1A9505E6FBC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8112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1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52977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2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43039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F2B1-2B60-CB9C-EDC5-4AEB6C89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DBA9F-236E-5F82-F8B2-37FC8F954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FE734-8795-DE58-08D4-F1E97879F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4B887-F370-F007-483F-04414531A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3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74791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4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87169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5199-24B4-5E00-0B9B-55277604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C774C-1468-F813-37B7-92AC26B9C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C871-908E-910B-8D64-6497C93BC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0F06B-C8CD-4845-E0EE-95AF32925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5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65436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CYP2E1</a:t>
            </a:r>
            <a:r>
              <a:rPr lang="en-GB" dirty="0"/>
              <a:t>=</a:t>
            </a:r>
            <a:r>
              <a:rPr lang="en-GB" dirty="0" err="1"/>
              <a:t>Cyt</a:t>
            </a:r>
            <a:r>
              <a:rPr lang="en-GB" dirty="0"/>
              <a:t> P450 E21; </a:t>
            </a:r>
            <a:r>
              <a:rPr lang="en-GB" b="1" dirty="0"/>
              <a:t>FMO</a:t>
            </a:r>
            <a:r>
              <a:rPr lang="en-GB" dirty="0"/>
              <a:t>= Flavin-containing Monooxygenase;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TASO =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Thioacetamide S-oxide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TASO₂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thioacetamide S,S-dioxide; </a:t>
            </a:r>
            <a:r>
              <a:rPr lang="en-GB" b="1" dirty="0"/>
              <a:t>SAM: </a:t>
            </a:r>
            <a:r>
              <a:rPr lang="en-GB" dirty="0"/>
              <a:t>S-adenosylmethionine; </a:t>
            </a:r>
            <a:r>
              <a:rPr lang="en-GB" b="1" dirty="0"/>
              <a:t>GSH: </a:t>
            </a:r>
            <a:r>
              <a:rPr lang="en-GB" dirty="0"/>
              <a:t>Glutathione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6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74159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2E39-6084-6B68-B4A1-F1179177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9D898-04EA-F56C-48BD-60205D71D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0A246-C145-2DB2-06BE-6F8AB491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UMAP coloured by CellTypist annotation (left) and condition (right).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0DDBA-CA42-755A-D6D8-C9C8974B1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7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83157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11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09307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LISI (neighbourhood composition; local)</a:t>
            </a:r>
            <a:r>
              <a:rPr lang="en-GB" dirty="0"/>
              <a:t> =  Local Inverse Simpson's Index; </a:t>
            </a:r>
            <a:r>
              <a:rPr lang="en-GB" b="1" dirty="0"/>
              <a:t>ARI (global; discrete)</a:t>
            </a:r>
            <a:r>
              <a:rPr lang="en-GB" dirty="0"/>
              <a:t> = Adjusted Rand Index;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NMI (discrete) =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Normalised Mutual Information;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ASW (continuous)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Average Silhouette Width</a:t>
            </a:r>
            <a:endParaRPr lang="en-GB" b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C51B4-90A3-4E77-B7A2-1A9505E6FBC1}" type="slidenum">
              <a:rPr lang="en-UG" smtClean="0"/>
              <a:t>12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49145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6297-93FD-4403-8523-91B644DEA7E7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19F56-F240-4201-BEDB-4C75FC880600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1D17-8353-47FA-918E-60BF21ECDF96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9716B-6D47-4566-971D-1C2ED53F196E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0EE9-54C1-4B33-AB4A-9273BEA0C757}" type="datetime1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E9C4-2A15-425B-878F-76A55D1CAA48}" type="datetime1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D952-2473-4A52-84A9-8777F20191B7}" type="datetime1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4E3EB-1F38-47E8-881C-C9F552E29802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9B5B-989F-4215-89E5-CB4C48993B24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F7C7-5174-497E-AE53-741647939B34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92CC-3D40-4C55-B593-6495D994D89B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642E-C180-9BD7-EAFC-45B130060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A130A-2840-2D6E-E764-E8A84E288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63DB2-C49C-AD4A-3B94-0F2C7DE3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9559-4E9D-0068-75D8-EA6EBE3C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B4949-BAA6-12C8-16C5-F6571F54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489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93BE-FC48-A36A-A770-5710BAE0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5B3AD-9641-6FA2-8ED0-F67521816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55F0-8EAB-2885-C9B7-164D80D6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25093-7217-3CC1-7AFA-6BF8ABCF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A6321-8924-F5B1-68A1-6D7283DA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65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3CD4-6854-4F67-4CCB-A6744225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05350-3A51-8BDF-C59B-E8B46971B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60D22-15BE-817D-E482-2B15CEAF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C6E70-2B1D-37E1-93B2-F583D780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2A400-7316-9219-C624-F638155C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696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610F-041E-A9A5-2E25-026153C3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1A93-FC31-2331-008B-EA4F53AA5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9779D-1A1E-2E92-76CF-C5581A7A9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E3523-C71C-B7DE-033D-B6A87BA4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FCC73-C7F3-8A9A-8ECF-8B384F43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57987-BCAE-35A7-A1A8-7E76D7B0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472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90C1-B892-8CAE-F70F-247A59A8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6E922-7F15-841D-A3C5-908F626F6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F2946-A4CE-EFF6-D28D-67E9C1C8E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7F39B-18C7-FB4D-C683-A17F9A972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4461E-0D3C-9949-4A9C-F081C4BDA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C0F14-17A0-3F44-54BF-591DC025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FE7A1-AD89-AE9A-828E-3822D120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F689B-5D97-8C3D-5CA6-F356644E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738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0356-F9E5-D6DF-184B-A6B438C1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1284C-C42E-C6CD-9CFE-543FF0C1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88EEA-926B-4124-4676-F7AF150E7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0B4F8-1E8C-F9FA-7CD5-9F1830DD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392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407C7-4B5C-395C-1E06-0E173216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4189E-48AD-EA55-7DE1-1BD34F2C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BBD61-3779-7EF4-D72A-34654441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2007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1808-50F9-5428-8282-0458E927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C018A-1369-9509-FBA4-CE643733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52625-E4D1-B48B-791B-78EDC378E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B0BB9-4533-A738-4436-2B1B315D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AE9D3-2E4A-311F-3E35-02ED7F24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DE5D6-3CCC-FCFE-91E7-AA076EB8D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369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F4BA-B924-1FC3-ECDF-59A94EB0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E66A45-2BEC-1F93-7E5E-DB5BAFBC1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DC659-3081-DDD6-56EA-EAD2AA5EF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7394D-6942-0DCE-8D80-6C943094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2778A-0DB6-A5AA-9770-4FD10642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F5512-45EC-8BC7-8385-D4E7F6DA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9858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6591-AE0B-5963-03D9-A335FD73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147EE-EF37-F813-8CFD-0A8BD154B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8105C-095B-8137-067A-3B31B798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18123-AF60-85F6-8EDE-60337E4B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80790-72D5-7E42-1A03-EC96BD10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601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2A36B-EAA1-6673-E6F0-E362582C7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2C896-29C5-1736-C645-C57D00A4D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CBED6-9B5B-3547-BFBE-92B424B8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EC727-33FF-AA7C-A71B-4F94B02E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DF411-1D5E-43DB-021A-9EA9BDFD3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50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AE620-5529-4F40-AF7C-52D8D95DBB05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6CC3C-54D7-E9B8-C2DD-77CD876E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A2BC8-4CA8-4570-7495-2183AB061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FA9FB-46DF-D8B5-9E1A-4892E1084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F7C20-4239-4045-880B-1BF05F1E1465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F2971-9EE9-0328-FBE1-262EDD251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CF0CA-C3D9-E9B7-E3EC-70807282A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E425A-1492-4B13-9990-8FC6DBE220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58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E41EBBD-6B7D-27FF-BEAB-8E6B194A8B2F}"/>
              </a:ext>
            </a:extLst>
          </p:cNvPr>
          <p:cNvSpPr/>
          <p:nvPr/>
        </p:nvSpPr>
        <p:spPr>
          <a:xfrm>
            <a:off x="-2" y="-12446"/>
            <a:ext cx="12192000" cy="3940629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G"/>
          </a:p>
        </p:txBody>
      </p:sp>
      <p:sp>
        <p:nvSpPr>
          <p:cNvPr id="5" name="Rectangle 4"/>
          <p:cNvSpPr/>
          <p:nvPr/>
        </p:nvSpPr>
        <p:spPr>
          <a:xfrm>
            <a:off x="4650376" y="4353667"/>
            <a:ext cx="2891248" cy="457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39730" y="4390554"/>
            <a:ext cx="3912537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rPr sz="2400" dirty="0">
                <a:latin typeface="+mj-lt"/>
                <a:cs typeface="Times New Roman" panose="02020603050405020304" pitchFamily="18" charset="0"/>
              </a:rPr>
              <a:t>WALTER ODUR</a:t>
            </a:r>
            <a:endParaRPr lang="en-GB"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E8480C-0E9E-9790-146C-2D6E4007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322" y="4732564"/>
            <a:ext cx="2128678" cy="21286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280FE-B9CF-D62A-246B-D119AAD9C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39057"/>
            <a:ext cx="4123647" cy="150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F7528D-1913-AD60-25BF-FB300040C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294" y="5595257"/>
            <a:ext cx="5558381" cy="10609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1A4964-5089-EF39-61FF-D8C2A1B6F8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624" b="9419"/>
          <a:stretch/>
        </p:blipFill>
        <p:spPr>
          <a:xfrm>
            <a:off x="1206714" y="5890"/>
            <a:ext cx="9778572" cy="380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1025" y="678887"/>
            <a:ext cx="1061946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 i="0">
                <a:solidFill>
                  <a:srgbClr val="2C3E50"/>
                </a:solidFill>
                <a:latin typeface="Calibri"/>
              </a:defRPr>
            </a:pPr>
            <a:r>
              <a:rPr lang="en-US" sz="4400" dirty="0">
                <a:latin typeface="+mj-lt"/>
                <a:cs typeface="Times New Roman" panose="02020603050405020304" pitchFamily="18" charset="0"/>
              </a:rPr>
              <a:t>Antigravity Skills For Computational Drug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0376" y="2797009"/>
            <a:ext cx="2891248" cy="4571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39730" y="2833896"/>
            <a:ext cx="3912537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rPr sz="2400" dirty="0">
                <a:latin typeface="+mj-lt"/>
                <a:cs typeface="Times New Roman" panose="02020603050405020304" pitchFamily="18" charset="0"/>
              </a:rPr>
              <a:t>WALTER ODUR</a:t>
            </a:r>
            <a:endParaRPr lang="en-GB"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E8480C-0E9E-9790-146C-2D6E4007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322" y="4732564"/>
            <a:ext cx="2128678" cy="21286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280FE-B9CF-D62A-246B-D119AAD9C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39057"/>
            <a:ext cx="4123647" cy="150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9CEF2FC-FCFB-F384-52F2-E2179F83F950}"/>
              </a:ext>
            </a:extLst>
          </p:cNvPr>
          <p:cNvSpPr txBox="1"/>
          <p:nvPr/>
        </p:nvSpPr>
        <p:spPr>
          <a:xfrm>
            <a:off x="4139729" y="3724321"/>
            <a:ext cx="3912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ACE-Uganda</a:t>
            </a:r>
          </a:p>
          <a:p>
            <a:pPr algn="ctr"/>
            <a:r>
              <a:rPr lang="en-GB" sz="2800" dirty="0"/>
              <a:t>Makerere University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F7528D-1913-AD60-25BF-FB300040C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294" y="5595257"/>
            <a:ext cx="5558381" cy="106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6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CC66-10B2-DD55-5194-AF1B9AC8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AB0B39-6120-FB99-A863-106DDC94116C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9144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+mj-lt"/>
                <a:cs typeface="Times New Roman" panose="02020603050405020304" pitchFamily="18" charset="0"/>
              </a:rPr>
              <a:t>Different conditions damage different liver zones</a:t>
            </a:r>
            <a:endParaRPr sz="3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AF36F-7E94-5538-DD1B-3B2A9655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3</a:t>
            </a:fld>
            <a:endParaRPr lang="en-US" sz="16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4959BB-7B8D-DAB3-464B-A228AD81AC98}"/>
              </a:ext>
            </a:extLst>
          </p:cNvPr>
          <p:cNvSpPr txBox="1"/>
          <p:nvPr/>
        </p:nvSpPr>
        <p:spPr>
          <a:xfrm>
            <a:off x="8697685" y="6464459"/>
            <a:ext cx="211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+mj-lt"/>
              </a:rPr>
              <a:t>Lueckenet</a:t>
            </a:r>
            <a:r>
              <a:rPr lang="en-GB" dirty="0">
                <a:latin typeface="+mj-lt"/>
              </a:rPr>
              <a:t> al., 2022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2B17E6-F7CA-9F4C-FF08-63A93DC928A6}"/>
              </a:ext>
            </a:extLst>
          </p:cNvPr>
          <p:cNvGrpSpPr/>
          <p:nvPr/>
        </p:nvGrpSpPr>
        <p:grpSpPr>
          <a:xfrm>
            <a:off x="7259529" y="914400"/>
            <a:ext cx="4801841" cy="5544597"/>
            <a:chOff x="6943755" y="722655"/>
            <a:chExt cx="4760565" cy="5787211"/>
          </a:xfrm>
        </p:grpSpPr>
        <p:pic>
          <p:nvPicPr>
            <p:cNvPr id="9" name="Picture 8" descr="Fig. 2">
              <a:extLst>
                <a:ext uri="{FF2B5EF4-FFF2-40B4-BE49-F238E27FC236}">
                  <a16:creationId xmlns:a16="http://schemas.microsoft.com/office/drawing/2014/main" id="{897B34F1-9E1B-D5ED-D73C-36869B360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70"/>
            <a:stretch>
              <a:fillRect/>
            </a:stretch>
          </p:blipFill>
          <p:spPr bwMode="auto">
            <a:xfrm>
              <a:off x="6943755" y="722655"/>
              <a:ext cx="4760565" cy="5787211"/>
            </a:xfrm>
            <a:prstGeom prst="rect">
              <a:avLst/>
            </a:prstGeom>
            <a:no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ACC98C3-80BF-FA75-B5C6-CF4E51DEF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9514" y="767728"/>
              <a:ext cx="543001" cy="409632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0E84D11-31E1-6D9B-E775-F931DF3772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172"/>
          <a:stretch>
            <a:fillRect/>
          </a:stretch>
        </p:blipFill>
        <p:spPr>
          <a:xfrm>
            <a:off x="280262" y="1354548"/>
            <a:ext cx="6979267" cy="49098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AE538E-086E-AA25-C4BD-63F879683FE5}"/>
              </a:ext>
            </a:extLst>
          </p:cNvPr>
          <p:cNvSpPr txBox="1"/>
          <p:nvPr/>
        </p:nvSpPr>
        <p:spPr>
          <a:xfrm>
            <a:off x="1875846" y="6458997"/>
            <a:ext cx="250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+mj-lt"/>
              </a:rPr>
              <a:t>van de Graaf et al., 2024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641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41F21-27FF-EA0A-5845-0A1F0E40A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F7D2B1-FA80-7F7F-AE81-A11C12CC3361}"/>
              </a:ext>
            </a:extLst>
          </p:cNvPr>
          <p:cNvSpPr txBox="1"/>
          <p:nvPr/>
        </p:nvSpPr>
        <p:spPr>
          <a:xfrm>
            <a:off x="7683501" y="624788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+mj-lt"/>
              </a:rPr>
              <a:t>Luecken</a:t>
            </a:r>
            <a:r>
              <a:rPr lang="en-GB" dirty="0">
                <a:latin typeface="+mj-lt"/>
              </a:rPr>
              <a:t> et al., 2022</a:t>
            </a:r>
          </a:p>
        </p:txBody>
      </p:sp>
      <p:pic>
        <p:nvPicPr>
          <p:cNvPr id="8" name="Picture 7" descr="Fig. 1: Design of single-cell integration benchmarking (scIB).">
            <a:extLst>
              <a:ext uri="{FF2B5EF4-FFF2-40B4-BE49-F238E27FC236}">
                <a16:creationId xmlns:a16="http://schemas.microsoft.com/office/drawing/2014/main" id="{391A1B9C-4BEB-269B-48AD-020564AA0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529" t="33102" r="1351" b="2016"/>
          <a:stretch>
            <a:fillRect/>
          </a:stretch>
        </p:blipFill>
        <p:spPr>
          <a:xfrm>
            <a:off x="10004117" y="1014330"/>
            <a:ext cx="1811588" cy="523159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C59A4F9-4190-C7BF-02FF-0395D02EC7FE}"/>
              </a:ext>
            </a:extLst>
          </p:cNvPr>
          <p:cNvGrpSpPr/>
          <p:nvPr/>
        </p:nvGrpSpPr>
        <p:grpSpPr>
          <a:xfrm>
            <a:off x="208155" y="1688468"/>
            <a:ext cx="9468757" cy="2144486"/>
            <a:chOff x="832757" y="2852056"/>
            <a:chExt cx="9093200" cy="18947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467C734-39E8-3AC5-14DB-A8891073BA35}"/>
                </a:ext>
              </a:extLst>
            </p:cNvPr>
            <p:cNvGrpSpPr/>
            <p:nvPr/>
          </p:nvGrpSpPr>
          <p:grpSpPr>
            <a:xfrm>
              <a:off x="832757" y="2852056"/>
              <a:ext cx="9093200" cy="1665515"/>
              <a:chOff x="1790700" y="1037952"/>
              <a:chExt cx="8877453" cy="1574619"/>
            </a:xfrm>
          </p:grpSpPr>
          <p:pic>
            <p:nvPicPr>
              <p:cNvPr id="4" name="Picture 3" descr="Fig. 1: Design of single-cell integration benchmarking (scIB).">
                <a:extLst>
                  <a:ext uri="{FF2B5EF4-FFF2-40B4-BE49-F238E27FC236}">
                    <a16:creationId xmlns:a16="http://schemas.microsoft.com/office/drawing/2014/main" id="{65FD692F-8CF1-C925-617F-1F0893326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69627"/>
              <a:stretch>
                <a:fillRect/>
              </a:stretch>
            </p:blipFill>
            <p:spPr>
              <a:xfrm>
                <a:off x="1790700" y="1037952"/>
                <a:ext cx="8877453" cy="1574619"/>
              </a:xfrm>
              <a:prstGeom prst="rect">
                <a:avLst/>
              </a:prstGeom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DE7C9B8-FAA7-A088-9F0F-D0124F66DB8B}"/>
                  </a:ext>
                </a:extLst>
              </p:cNvPr>
              <p:cNvSpPr/>
              <p:nvPr/>
            </p:nvSpPr>
            <p:spPr>
              <a:xfrm>
                <a:off x="4669970" y="1698174"/>
                <a:ext cx="326574" cy="21771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j-lt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A5EE1A-0C78-350D-A5E9-DF3387C95C7F}"/>
                  </a:ext>
                </a:extLst>
              </p:cNvPr>
              <p:cNvSpPr/>
              <p:nvPr/>
            </p:nvSpPr>
            <p:spPr>
              <a:xfrm>
                <a:off x="4822370" y="1270216"/>
                <a:ext cx="326574" cy="28644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j-lt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F45B8C-47CD-4D19-2E87-EBF816C8EB40}"/>
                  </a:ext>
                </a:extLst>
              </p:cNvPr>
              <p:cNvSpPr/>
              <p:nvPr/>
            </p:nvSpPr>
            <p:spPr>
              <a:xfrm>
                <a:off x="5050967" y="1616600"/>
                <a:ext cx="326574" cy="21771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j-lt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E6330E-466A-1F02-FB01-218782AEB355}"/>
                  </a:ext>
                </a:extLst>
              </p:cNvPr>
              <p:cNvSpPr/>
              <p:nvPr/>
            </p:nvSpPr>
            <p:spPr>
              <a:xfrm>
                <a:off x="4201889" y="1143006"/>
                <a:ext cx="326574" cy="21771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j-lt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06117AB-A4CD-9D2E-7CBA-886151D331C2}"/>
                  </a:ext>
                </a:extLst>
              </p:cNvPr>
              <p:cNvSpPr/>
              <p:nvPr/>
            </p:nvSpPr>
            <p:spPr>
              <a:xfrm>
                <a:off x="7881253" y="1371608"/>
                <a:ext cx="506186" cy="33745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j-lt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5BBF25-8082-9769-D959-B8FC6514F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77368" y="3630128"/>
              <a:ext cx="987118" cy="1116670"/>
            </a:xfrm>
            <a:prstGeom prst="rect">
              <a:avLst/>
            </a:prstGeom>
          </p:spPr>
        </p:pic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AAC6A1-228E-906B-3670-CEE9AA932211}"/>
              </a:ext>
            </a:extLst>
          </p:cNvPr>
          <p:cNvCxnSpPr>
            <a:cxnSpLocks/>
          </p:cNvCxnSpPr>
          <p:nvPr/>
        </p:nvCxnSpPr>
        <p:spPr>
          <a:xfrm>
            <a:off x="8750301" y="2569097"/>
            <a:ext cx="10825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312780-264B-1C7F-2228-3DC19AEECFBA}"/>
              </a:ext>
            </a:extLst>
          </p:cNvPr>
          <p:cNvSpPr txBox="1"/>
          <p:nvPr/>
        </p:nvSpPr>
        <p:spPr>
          <a:xfrm>
            <a:off x="1732740" y="4487630"/>
            <a:ext cx="7093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+mj-lt"/>
              </a:rPr>
              <a:t>Are biological differences still protected?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AEA1DF32-8FF9-E7F1-A381-B7459DD6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4</a:t>
            </a:fld>
            <a:endParaRPr lang="en-US" sz="1600" b="1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B963A-CA7F-07D3-8201-72F6D51A4D90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9144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+mj-lt"/>
                <a:cs typeface="Times New Roman" panose="02020603050405020304" pitchFamily="18" charset="0"/>
              </a:rPr>
              <a:t>Does integration preserve cell-type-specific biological signals across different injury conditions?</a:t>
            </a:r>
            <a:endParaRPr sz="32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A8A041-07C3-CE33-FC84-356F9EA73366}"/>
              </a:ext>
            </a:extLst>
          </p:cNvPr>
          <p:cNvGrpSpPr/>
          <p:nvPr/>
        </p:nvGrpSpPr>
        <p:grpSpPr>
          <a:xfrm>
            <a:off x="555124" y="4347581"/>
            <a:ext cx="929301" cy="771002"/>
            <a:chOff x="2902123" y="2790736"/>
            <a:chExt cx="1538620" cy="127652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CF47AD6-86D6-5E71-84FD-E5F9B7F3B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02123" y="2790736"/>
              <a:ext cx="1495634" cy="1276528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7831CF-3DDB-4F49-55F5-A1BCDCFFE94D}"/>
                </a:ext>
              </a:extLst>
            </p:cNvPr>
            <p:cNvSpPr/>
            <p:nvPr/>
          </p:nvSpPr>
          <p:spPr>
            <a:xfrm>
              <a:off x="2945108" y="2873829"/>
              <a:ext cx="1495635" cy="11934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04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92B1-2D0D-98AA-18A3-9E4C3EC7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EE2AC7-798A-26E3-B86C-68471B1EB9C0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9144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+mj-lt"/>
                <a:cs typeface="Times New Roman" panose="02020603050405020304" pitchFamily="18" charset="0"/>
              </a:rPr>
              <a:t>Does integration preserve cell-type-specific biological signals across different injury conditions?</a:t>
            </a:r>
            <a:endParaRPr sz="3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7E95F5-89DD-24C1-7484-F87795FD335C}"/>
              </a:ext>
            </a:extLst>
          </p:cNvPr>
          <p:cNvSpPr txBox="1"/>
          <p:nvPr/>
        </p:nvSpPr>
        <p:spPr>
          <a:xfrm>
            <a:off x="7959296" y="6459000"/>
            <a:ext cx="2218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+mj-lt"/>
              </a:rPr>
              <a:t>Carlessi</a:t>
            </a:r>
            <a:r>
              <a:rPr lang="en-GB" dirty="0">
                <a:latin typeface="+mj-lt"/>
              </a:rPr>
              <a:t> et al., 2023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4CD362-BCA0-49FB-858D-67B949A1C72D}"/>
              </a:ext>
            </a:extLst>
          </p:cNvPr>
          <p:cNvGrpSpPr/>
          <p:nvPr/>
        </p:nvGrpSpPr>
        <p:grpSpPr>
          <a:xfrm>
            <a:off x="272145" y="925286"/>
            <a:ext cx="11306856" cy="5329393"/>
            <a:chOff x="-380999" y="925286"/>
            <a:chExt cx="11306856" cy="532939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AF7191D-892F-4A82-F33A-9219B3EF4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193" y="925286"/>
              <a:ext cx="10115664" cy="532939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2349F41-858D-FDB7-FA12-1B85743EEED3}"/>
                </a:ext>
              </a:extLst>
            </p:cNvPr>
            <p:cNvSpPr txBox="1"/>
            <p:nvPr/>
          </p:nvSpPr>
          <p:spPr>
            <a:xfrm>
              <a:off x="-380999" y="2733140"/>
              <a:ext cx="365759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+mj-lt"/>
                </a:rPr>
                <a:t>10x Chromium; snRNA-</a:t>
              </a:r>
              <a:r>
                <a:rPr lang="en-GB" sz="2400" dirty="0" err="1">
                  <a:latin typeface="+mj-lt"/>
                </a:rPr>
                <a:t>seq</a:t>
              </a:r>
              <a:endParaRPr lang="en-GB" sz="2400" dirty="0">
                <a:latin typeface="+mj-lt"/>
              </a:endParaRPr>
            </a:p>
            <a:p>
              <a:r>
                <a:rPr lang="en-GB" sz="2400" dirty="0">
                  <a:latin typeface="+mj-lt"/>
                </a:rPr>
                <a:t>GEO Accession: GSE200366</a:t>
              </a:r>
            </a:p>
            <a:p>
              <a:r>
                <a:rPr lang="en-GB" sz="2400" dirty="0">
                  <a:latin typeface="+mj-lt"/>
                </a:rPr>
                <a:t>Male C57BL/6J mice 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4B1BD23-A2D5-3007-9447-FBC84EFB6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730" y="947058"/>
              <a:ext cx="743054" cy="504895"/>
            </a:xfrm>
            <a:prstGeom prst="rect">
              <a:avLst/>
            </a:prstGeom>
          </p:spPr>
        </p:pic>
      </p:grp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B1B1986B-8EA0-53FC-F8BE-DAE8EECE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5</a:t>
            </a:fld>
            <a:endParaRPr lang="en-US" sz="1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887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9363-9204-0FE3-1091-FFC455C1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D596F0-0A7A-3D60-F03A-141E5898D778}"/>
              </a:ext>
            </a:extLst>
          </p:cNvPr>
          <p:cNvSpPr/>
          <p:nvPr/>
        </p:nvSpPr>
        <p:spPr>
          <a:xfrm>
            <a:off x="0" y="0"/>
            <a:ext cx="12191695" cy="1053261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TAA (Thioacetamide) and CDE (Choline-Deficient, Ethionine-supplemented diet) damage different liver zones</a:t>
            </a:r>
            <a:endParaRPr sz="3200" b="1" dirty="0">
              <a:latin typeface="+mj-lt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88663FB-6120-E3C6-C3AE-76543B29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6</a:t>
            </a:fld>
            <a:endParaRPr lang="en-US" sz="1600" b="1"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970725-CE61-2F31-721C-81D87143AF2E}"/>
              </a:ext>
            </a:extLst>
          </p:cNvPr>
          <p:cNvGrpSpPr/>
          <p:nvPr/>
        </p:nvGrpSpPr>
        <p:grpSpPr>
          <a:xfrm>
            <a:off x="0" y="2638607"/>
            <a:ext cx="6009399" cy="2978419"/>
            <a:chOff x="410082" y="2094324"/>
            <a:chExt cx="5391428" cy="267213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02508A0-0B56-2AAE-C3DD-7478D3297C6E}"/>
                </a:ext>
              </a:extLst>
            </p:cNvPr>
            <p:cNvGrpSpPr>
              <a:grpSpLocks/>
            </p:cNvGrpSpPr>
            <p:nvPr/>
          </p:nvGrpSpPr>
          <p:grpSpPr>
            <a:xfrm>
              <a:off x="410082" y="2094324"/>
              <a:ext cx="5391428" cy="2672136"/>
              <a:chOff x="160286" y="1716214"/>
              <a:chExt cx="8079724" cy="427606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8E3FEAC-8B5F-CDB1-DA50-6722A57EB1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508" y="1716214"/>
                <a:ext cx="7957502" cy="4276065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F2F39F2-5646-11B7-85C2-6602EB64B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982" y="1853701"/>
                <a:ext cx="1790950" cy="609685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9E61033-B24F-00B2-744A-E32A22EE50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286" y="3124157"/>
                <a:ext cx="1790950" cy="609685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EBD2DE3C-AC8D-3B82-59C6-914E254A8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1914" y="1853701"/>
                <a:ext cx="1219200" cy="609685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206C6C-6B95-3EF3-0870-95F8093D2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58168" y="2180239"/>
              <a:ext cx="990191" cy="38099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0BEC1A-4338-446A-8164-A4FAB0F74856}"/>
              </a:ext>
            </a:extLst>
          </p:cNvPr>
          <p:cNvGrpSpPr/>
          <p:nvPr/>
        </p:nvGrpSpPr>
        <p:grpSpPr>
          <a:xfrm>
            <a:off x="5996069" y="1516654"/>
            <a:ext cx="5708251" cy="4035057"/>
            <a:chOff x="5996069" y="1102998"/>
            <a:chExt cx="5708251" cy="40350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6EF142-69EC-9964-CF7D-F460CFEDE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9118"/>
            <a:stretch>
              <a:fillRect/>
            </a:stretch>
          </p:blipFill>
          <p:spPr>
            <a:xfrm>
              <a:off x="5996069" y="2029008"/>
              <a:ext cx="5708251" cy="3109047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D6611C2-D630-A137-7B8D-B80D4D40CB4C}"/>
                </a:ext>
              </a:extLst>
            </p:cNvPr>
            <p:cNvGrpSpPr/>
            <p:nvPr/>
          </p:nvGrpSpPr>
          <p:grpSpPr>
            <a:xfrm>
              <a:off x="8632374" y="1102998"/>
              <a:ext cx="696683" cy="369332"/>
              <a:chOff x="8632374" y="1168315"/>
              <a:chExt cx="696683" cy="36933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8B7EBED-D803-91C6-568C-70D30B7384BF}"/>
                  </a:ext>
                </a:extLst>
              </p:cNvPr>
              <p:cNvSpPr/>
              <p:nvPr/>
            </p:nvSpPr>
            <p:spPr>
              <a:xfrm>
                <a:off x="8632374" y="1183893"/>
                <a:ext cx="696683" cy="35375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j-lt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89F0C6-532F-97F1-D699-F8F043C8B329}"/>
                  </a:ext>
                </a:extLst>
              </p:cNvPr>
              <p:cNvSpPr txBox="1"/>
              <p:nvPr/>
            </p:nvSpPr>
            <p:spPr>
              <a:xfrm>
                <a:off x="8675918" y="1168315"/>
                <a:ext cx="5878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latin typeface="+mj-lt"/>
                  </a:rPr>
                  <a:t>CDE</a:t>
                </a:r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621CC12-C672-4755-EC49-B7D93AC148F9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7554686" y="1295453"/>
              <a:ext cx="1077688" cy="733555"/>
            </a:xfrm>
            <a:prstGeom prst="straightConnector1">
              <a:avLst/>
            </a:prstGeom>
            <a:ln>
              <a:solidFill>
                <a:srgbClr val="48927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571FE97-DBBC-4693-95DE-51BA36E6D1EC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9329057" y="1295453"/>
              <a:ext cx="1360714" cy="733555"/>
            </a:xfrm>
            <a:prstGeom prst="straightConnector1">
              <a:avLst/>
            </a:prstGeom>
            <a:ln>
              <a:solidFill>
                <a:srgbClr val="84599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532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CD7A-2E7A-9E88-4465-8BCBE278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14A4C3-1188-BCE4-45A7-3AACE7FF3D85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CellTypist identifies 11 cell types</a:t>
            </a:r>
            <a:endParaRPr sz="3200" b="1" dirty="0">
              <a:latin typeface="+mj-lt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D40E094-975B-82BA-A5C4-FCBF9FC9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7</a:t>
            </a:fld>
            <a:endParaRPr lang="en-US" sz="1600" b="1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53A98A-0AF5-F940-5761-549471154F40}"/>
              </a:ext>
            </a:extLst>
          </p:cNvPr>
          <p:cNvGrpSpPr/>
          <p:nvPr/>
        </p:nvGrpSpPr>
        <p:grpSpPr>
          <a:xfrm>
            <a:off x="1904847" y="640080"/>
            <a:ext cx="8382000" cy="6184405"/>
            <a:chOff x="3352801" y="640080"/>
            <a:chExt cx="8382000" cy="618440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4F0CC2-797B-2C5F-5D62-D55914AB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2801" y="640080"/>
              <a:ext cx="8382000" cy="618440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A06C03-ED7E-3E1F-47A2-97EA84962359}"/>
                </a:ext>
              </a:extLst>
            </p:cNvPr>
            <p:cNvSpPr/>
            <p:nvPr/>
          </p:nvSpPr>
          <p:spPr>
            <a:xfrm>
              <a:off x="4931229" y="4713514"/>
              <a:ext cx="2852057" cy="167640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111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12953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sz="3200" b="1" dirty="0">
                <a:latin typeface="+mj-lt"/>
              </a:rPr>
              <a:t>Transcriptional Responsiveness </a:t>
            </a:r>
            <a:r>
              <a:rPr lang="en-GB" sz="3200" b="1" dirty="0">
                <a:latin typeface="+mj-lt"/>
              </a:rPr>
              <a:t>shows that Hepatocytes are the most responsive to both TAA &amp; CDE</a:t>
            </a:r>
            <a:endParaRPr sz="3200" b="1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4FAA9F-3268-BA00-99BF-48299B227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93"/>
          <a:stretch>
            <a:fillRect/>
          </a:stretch>
        </p:blipFill>
        <p:spPr>
          <a:xfrm>
            <a:off x="2743200" y="1388400"/>
            <a:ext cx="7222453" cy="5392870"/>
          </a:xfrm>
          <a:prstGeom prst="rect">
            <a:avLst/>
          </a:prstGeom>
        </p:spPr>
      </p:pic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B75F087-726E-0D7D-2187-941FAC1E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8</a:t>
            </a:fld>
            <a:endParaRPr lang="en-US" sz="1600" b="1">
              <a:latin typeface="+mj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AA7CDA-F2F3-3967-D005-500DF32F9C12}"/>
              </a:ext>
            </a:extLst>
          </p:cNvPr>
          <p:cNvCxnSpPr>
            <a:cxnSpLocks/>
          </p:cNvCxnSpPr>
          <p:nvPr/>
        </p:nvCxnSpPr>
        <p:spPr>
          <a:xfrm flipV="1">
            <a:off x="7834964" y="2146436"/>
            <a:ext cx="0" cy="750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E913-1570-9752-BC60-4B885BF3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150CA-CCA3-623B-1F6B-2173865465FB}"/>
              </a:ext>
            </a:extLst>
          </p:cNvPr>
          <p:cNvSpPr/>
          <p:nvPr/>
        </p:nvSpPr>
        <p:spPr>
          <a:xfrm>
            <a:off x="0" y="-1"/>
            <a:ext cx="12191695" cy="9933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9144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+mj-lt"/>
                <a:cs typeface="Times New Roman" panose="02020603050405020304" pitchFamily="18" charset="0"/>
              </a:rPr>
              <a:t>PCA reveals technical variations between samples within the same group</a:t>
            </a:r>
            <a:endParaRPr sz="32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B5D04C-2E39-572C-3F2C-67A688DC8957}"/>
              </a:ext>
            </a:extLst>
          </p:cNvPr>
          <p:cNvGrpSpPr>
            <a:grpSpLocks/>
          </p:cNvGrpSpPr>
          <p:nvPr/>
        </p:nvGrpSpPr>
        <p:grpSpPr>
          <a:xfrm>
            <a:off x="163288" y="1243702"/>
            <a:ext cx="11898089" cy="5369859"/>
            <a:chOff x="163288" y="914399"/>
            <a:chExt cx="11898089" cy="536985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C03862E-E8EC-9F40-098D-C67CDE53A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1619"/>
            <a:stretch>
              <a:fillRect/>
            </a:stretch>
          </p:blipFill>
          <p:spPr>
            <a:xfrm>
              <a:off x="163288" y="914399"/>
              <a:ext cx="4484915" cy="531222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3D376C5-CB01-B0CF-4AEB-58C416F2D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762"/>
            <a:stretch>
              <a:fillRect/>
            </a:stretch>
          </p:blipFill>
          <p:spPr>
            <a:xfrm>
              <a:off x="4724405" y="914399"/>
              <a:ext cx="7336972" cy="5369859"/>
            </a:xfrm>
            <a:prstGeom prst="rect">
              <a:avLst/>
            </a:prstGeom>
          </p:spPr>
        </p:pic>
      </p:grp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73179DD-E48B-049E-BD14-EF859B3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9</a:t>
            </a:fld>
            <a:endParaRPr lang="en-US" sz="1600" b="1"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85232D-F412-0C58-DBFD-C7E8F3251654}"/>
              </a:ext>
            </a:extLst>
          </p:cNvPr>
          <p:cNvSpPr/>
          <p:nvPr/>
        </p:nvSpPr>
        <p:spPr>
          <a:xfrm>
            <a:off x="8763311" y="2430602"/>
            <a:ext cx="3298066" cy="99333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E010F7-10FD-5D49-8173-4EE3632561A7}"/>
              </a:ext>
            </a:extLst>
          </p:cNvPr>
          <p:cNvSpPr/>
          <p:nvPr/>
        </p:nvSpPr>
        <p:spPr>
          <a:xfrm rot="4659701">
            <a:off x="1609126" y="3040189"/>
            <a:ext cx="3733155" cy="119347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717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16F6-E4E7-3030-E718-C7C66ECF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1E5EB02-970E-8D0D-12AB-E41B3727AB78}"/>
              </a:ext>
            </a:extLst>
          </p:cNvPr>
          <p:cNvGrpSpPr/>
          <p:nvPr/>
        </p:nvGrpSpPr>
        <p:grpSpPr>
          <a:xfrm>
            <a:off x="5537051" y="659930"/>
            <a:ext cx="6326442" cy="4188985"/>
            <a:chOff x="5537051" y="1351843"/>
            <a:chExt cx="6326442" cy="418898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BE5AED5-871C-78AE-A0EE-C20461412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5478"/>
            <a:stretch>
              <a:fillRect/>
            </a:stretch>
          </p:blipFill>
          <p:spPr>
            <a:xfrm>
              <a:off x="5537051" y="1665513"/>
              <a:ext cx="6326442" cy="387531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115FE4-45F1-813A-9796-7CC2DDE8A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7167" y="1351843"/>
              <a:ext cx="752580" cy="40963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D941CAD-CCCE-88E6-6EDE-17BA1BE7B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1939" y="1460703"/>
              <a:ext cx="752580" cy="409632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95F8F6F-A9E5-4DFF-4A04-898EB8339DB8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Zonation as a measure of biological conservation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EC4A7F-0E80-80C6-00A4-DF4A6F70A245}"/>
              </a:ext>
            </a:extLst>
          </p:cNvPr>
          <p:cNvSpPr txBox="1"/>
          <p:nvPr/>
        </p:nvSpPr>
        <p:spPr>
          <a:xfrm>
            <a:off x="5873154" y="5189494"/>
            <a:ext cx="3450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j-lt"/>
              </a:rPr>
              <a:t>Zone 1: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Alb, Ass1,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+mj-lt"/>
              </a:rPr>
              <a:t>Sds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Arg1</a:t>
            </a:r>
            <a:endParaRPr lang="en-GB" sz="2000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  <a:p>
            <a:r>
              <a:rPr lang="en-GB" sz="2000" dirty="0">
                <a:latin typeface="+mj-lt"/>
              </a:rPr>
              <a:t>Zone 2: </a:t>
            </a:r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Hamp, Hamp2</a:t>
            </a:r>
          </a:p>
          <a:p>
            <a:r>
              <a:rPr lang="en-GB" sz="2000" dirty="0">
                <a:latin typeface="+mj-lt"/>
              </a:rPr>
              <a:t>Zone 3: </a:t>
            </a:r>
            <a:r>
              <a:rPr lang="en-GB" sz="2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Glul</a:t>
            </a:r>
            <a:r>
              <a:rPr lang="en-GB" sz="2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, Cyp2e1, Cyp1a2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1FE7D-F1F9-9423-AC0B-BB18BD475F92}"/>
              </a:ext>
            </a:extLst>
          </p:cNvPr>
          <p:cNvSpPr txBox="1"/>
          <p:nvPr/>
        </p:nvSpPr>
        <p:spPr>
          <a:xfrm>
            <a:off x="6363009" y="6296700"/>
            <a:ext cx="333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Halpern et al., 2017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D858B76-0FEE-E36B-4D21-4EB7B001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10</a:t>
            </a:fld>
            <a:endParaRPr lang="en-US" sz="1600" b="1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BB7DC-9B45-7537-A78E-72E090AA3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84" t="1039" b="49931"/>
          <a:stretch>
            <a:fillRect/>
          </a:stretch>
        </p:blipFill>
        <p:spPr>
          <a:xfrm>
            <a:off x="590605" y="955853"/>
            <a:ext cx="4558338" cy="476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35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55AA-7FA7-BD9B-D05C-790E2443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ED768B7-DD1E-D89B-E149-87D8AACCFF10}"/>
              </a:ext>
            </a:extLst>
          </p:cNvPr>
          <p:cNvGrpSpPr/>
          <p:nvPr/>
        </p:nvGrpSpPr>
        <p:grpSpPr>
          <a:xfrm>
            <a:off x="77785" y="2274749"/>
            <a:ext cx="782055" cy="2649927"/>
            <a:chOff x="137160" y="2057400"/>
            <a:chExt cx="1463040" cy="19202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DDE7F-56E3-67F3-4CE8-CBFDDC96EFC7}"/>
                </a:ext>
              </a:extLst>
            </p:cNvPr>
            <p:cNvSpPr/>
            <p:nvPr/>
          </p:nvSpPr>
          <p:spPr>
            <a:xfrm>
              <a:off x="137160" y="2057400"/>
              <a:ext cx="457200" cy="457200"/>
            </a:xfrm>
            <a:prstGeom prst="ellipse">
              <a:avLst/>
            </a:prstGeom>
            <a:solidFill>
              <a:srgbClr val="C8ECE4"/>
            </a:solidFill>
            <a:ln w="31750">
              <a:solidFill>
                <a:srgbClr val="3A9E8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11DCB36-132E-1EAE-6305-616F7D59A54D}"/>
                </a:ext>
              </a:extLst>
            </p:cNvPr>
            <p:cNvSpPr/>
            <p:nvPr/>
          </p:nvSpPr>
          <p:spPr>
            <a:xfrm>
              <a:off x="137160" y="2788920"/>
              <a:ext cx="457200" cy="457200"/>
            </a:xfrm>
            <a:prstGeom prst="ellipse">
              <a:avLst/>
            </a:prstGeom>
            <a:solidFill>
              <a:srgbClr val="F8DFC0"/>
            </a:solidFill>
            <a:ln w="31750">
              <a:solidFill>
                <a:srgbClr val="D487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E65668A-ABF6-F7EB-9A55-A2B40879FABC}"/>
                </a:ext>
              </a:extLst>
            </p:cNvPr>
            <p:cNvSpPr/>
            <p:nvPr/>
          </p:nvSpPr>
          <p:spPr>
            <a:xfrm>
              <a:off x="137160" y="3520439"/>
              <a:ext cx="457200" cy="457200"/>
            </a:xfrm>
            <a:prstGeom prst="ellipse">
              <a:avLst/>
            </a:prstGeom>
            <a:solidFill>
              <a:srgbClr val="F0C8C4"/>
            </a:solidFill>
            <a:ln w="31750">
              <a:solidFill>
                <a:srgbClr val="C054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BFE3AAFD-7DD1-3D36-D64F-DF712DC4C9F8}"/>
                </a:ext>
              </a:extLst>
            </p:cNvPr>
            <p:cNvGrpSpPr/>
            <p:nvPr/>
          </p:nvGrpSpPr>
          <p:grpSpPr>
            <a:xfrm>
              <a:off x="285760" y="2057400"/>
              <a:ext cx="1314440" cy="1920239"/>
              <a:chOff x="285760" y="2057400"/>
              <a:chExt cx="1314440" cy="1920239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CE7CFAC-23F9-EE80-6436-0CF4DBDFCB28}"/>
                  </a:ext>
                </a:extLst>
              </p:cNvPr>
              <p:cNvSpPr/>
              <p:nvPr/>
            </p:nvSpPr>
            <p:spPr>
              <a:xfrm>
                <a:off x="285760" y="2186000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3A9E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43F9F00-EA1A-A8AD-BE23-3DA572B27BFD}"/>
                  </a:ext>
                </a:extLst>
              </p:cNvPr>
              <p:cNvSpPr/>
              <p:nvPr/>
            </p:nvSpPr>
            <p:spPr>
              <a:xfrm>
                <a:off x="335760" y="2236000"/>
                <a:ext cx="60000" cy="60000"/>
              </a:xfrm>
              <a:prstGeom prst="ellipse">
                <a:avLst/>
              </a:prstGeom>
              <a:solidFill>
                <a:srgbClr val="3A9E8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8093440-9CD5-78A3-D440-373343C926DD}"/>
                  </a:ext>
                </a:extLst>
              </p:cNvPr>
              <p:cNvSpPr/>
              <p:nvPr/>
            </p:nvSpPr>
            <p:spPr>
              <a:xfrm>
                <a:off x="640080" y="2057400"/>
                <a:ext cx="457200" cy="457200"/>
              </a:xfrm>
              <a:prstGeom prst="ellipse">
                <a:avLst/>
              </a:prstGeom>
              <a:solidFill>
                <a:srgbClr val="C8ECE4"/>
              </a:solidFill>
              <a:ln w="31750">
                <a:solidFill>
                  <a:srgbClr val="3A9E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F775AC2-06B4-BAA8-F1F8-523C9DDA3653}"/>
                  </a:ext>
                </a:extLst>
              </p:cNvPr>
              <p:cNvSpPr/>
              <p:nvPr/>
            </p:nvSpPr>
            <p:spPr>
              <a:xfrm>
                <a:off x="788680" y="2186000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3A9E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F63262B-1FD3-5001-C621-AE98CBC31205}"/>
                  </a:ext>
                </a:extLst>
              </p:cNvPr>
              <p:cNvSpPr/>
              <p:nvPr/>
            </p:nvSpPr>
            <p:spPr>
              <a:xfrm>
                <a:off x="838680" y="2236000"/>
                <a:ext cx="60000" cy="60000"/>
              </a:xfrm>
              <a:prstGeom prst="ellipse">
                <a:avLst/>
              </a:prstGeom>
              <a:solidFill>
                <a:srgbClr val="3A9E8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8733E56-B1ED-AAE0-3E53-717241F682D2}"/>
                  </a:ext>
                </a:extLst>
              </p:cNvPr>
              <p:cNvSpPr/>
              <p:nvPr/>
            </p:nvSpPr>
            <p:spPr>
              <a:xfrm>
                <a:off x="1143000" y="2057400"/>
                <a:ext cx="457200" cy="457200"/>
              </a:xfrm>
              <a:prstGeom prst="ellipse">
                <a:avLst/>
              </a:prstGeom>
              <a:solidFill>
                <a:srgbClr val="C8ECE4"/>
              </a:solidFill>
              <a:ln w="31750">
                <a:solidFill>
                  <a:srgbClr val="3A9E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097C34C-7EA7-268F-72FF-72B78E469F06}"/>
                  </a:ext>
                </a:extLst>
              </p:cNvPr>
              <p:cNvSpPr/>
              <p:nvPr/>
            </p:nvSpPr>
            <p:spPr>
              <a:xfrm>
                <a:off x="1291600" y="2186000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3A9E8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7987BA2-18AC-6C12-964F-2BBF0BAEF95A}"/>
                  </a:ext>
                </a:extLst>
              </p:cNvPr>
              <p:cNvSpPr/>
              <p:nvPr/>
            </p:nvSpPr>
            <p:spPr>
              <a:xfrm>
                <a:off x="1341600" y="2236000"/>
                <a:ext cx="60000" cy="60000"/>
              </a:xfrm>
              <a:prstGeom prst="ellipse">
                <a:avLst/>
              </a:prstGeom>
              <a:solidFill>
                <a:srgbClr val="3A9E8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7F93A3D-920D-A783-3C55-C5FA7D0A5E91}"/>
                  </a:ext>
                </a:extLst>
              </p:cNvPr>
              <p:cNvSpPr/>
              <p:nvPr/>
            </p:nvSpPr>
            <p:spPr>
              <a:xfrm>
                <a:off x="285760" y="2917520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D487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9F93765-B2E3-2696-4646-87F0DC1BBF50}"/>
                  </a:ext>
                </a:extLst>
              </p:cNvPr>
              <p:cNvSpPr/>
              <p:nvPr/>
            </p:nvSpPr>
            <p:spPr>
              <a:xfrm>
                <a:off x="335760" y="2967520"/>
                <a:ext cx="60000" cy="60000"/>
              </a:xfrm>
              <a:prstGeom prst="ellipse">
                <a:avLst/>
              </a:prstGeom>
              <a:solidFill>
                <a:srgbClr val="D4873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85DF9F6-54D8-A949-D3B2-06BFA4EBE2E8}"/>
                  </a:ext>
                </a:extLst>
              </p:cNvPr>
              <p:cNvSpPr/>
              <p:nvPr/>
            </p:nvSpPr>
            <p:spPr>
              <a:xfrm>
                <a:off x="640080" y="2788920"/>
                <a:ext cx="457200" cy="457200"/>
              </a:xfrm>
              <a:prstGeom prst="ellipse">
                <a:avLst/>
              </a:prstGeom>
              <a:solidFill>
                <a:srgbClr val="F8DFC0"/>
              </a:solidFill>
              <a:ln w="31750">
                <a:solidFill>
                  <a:srgbClr val="D487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545EC87-C5C2-4795-68F7-330CC317006E}"/>
                  </a:ext>
                </a:extLst>
              </p:cNvPr>
              <p:cNvSpPr/>
              <p:nvPr/>
            </p:nvSpPr>
            <p:spPr>
              <a:xfrm>
                <a:off x="788680" y="2917520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D487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24468BD-94B2-D432-E8FF-6334914D47A2}"/>
                  </a:ext>
                </a:extLst>
              </p:cNvPr>
              <p:cNvSpPr/>
              <p:nvPr/>
            </p:nvSpPr>
            <p:spPr>
              <a:xfrm>
                <a:off x="838680" y="2967520"/>
                <a:ext cx="60000" cy="60000"/>
              </a:xfrm>
              <a:prstGeom prst="ellipse">
                <a:avLst/>
              </a:prstGeom>
              <a:solidFill>
                <a:srgbClr val="D4873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327FE1B-7EE5-33DA-25A6-97EA8430E107}"/>
                  </a:ext>
                </a:extLst>
              </p:cNvPr>
              <p:cNvSpPr/>
              <p:nvPr/>
            </p:nvSpPr>
            <p:spPr>
              <a:xfrm>
                <a:off x="1143000" y="2788920"/>
                <a:ext cx="457200" cy="457200"/>
              </a:xfrm>
              <a:prstGeom prst="ellipse">
                <a:avLst/>
              </a:prstGeom>
              <a:solidFill>
                <a:srgbClr val="F8DFC0"/>
              </a:solidFill>
              <a:ln w="31750">
                <a:solidFill>
                  <a:srgbClr val="D487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4102E31-ECFA-0369-B6AF-9660FBAB1C98}"/>
                  </a:ext>
                </a:extLst>
              </p:cNvPr>
              <p:cNvSpPr/>
              <p:nvPr/>
            </p:nvSpPr>
            <p:spPr>
              <a:xfrm>
                <a:off x="1291600" y="2917520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D487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9F6C6FD-783A-D3CF-6A35-BBCC7DB1C5CF}"/>
                  </a:ext>
                </a:extLst>
              </p:cNvPr>
              <p:cNvSpPr/>
              <p:nvPr/>
            </p:nvSpPr>
            <p:spPr>
              <a:xfrm>
                <a:off x="1341600" y="2967520"/>
                <a:ext cx="60000" cy="60000"/>
              </a:xfrm>
              <a:prstGeom prst="ellipse">
                <a:avLst/>
              </a:prstGeom>
              <a:solidFill>
                <a:srgbClr val="D4873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2C6F752-D66D-82AB-D4BE-A11AA56233E8}"/>
                  </a:ext>
                </a:extLst>
              </p:cNvPr>
              <p:cNvSpPr/>
              <p:nvPr/>
            </p:nvSpPr>
            <p:spPr>
              <a:xfrm>
                <a:off x="285760" y="3649039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C054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04A5DD4-C69A-BDBA-B2D3-508551D629CE}"/>
                  </a:ext>
                </a:extLst>
              </p:cNvPr>
              <p:cNvSpPr/>
              <p:nvPr/>
            </p:nvSpPr>
            <p:spPr>
              <a:xfrm>
                <a:off x="335760" y="3699039"/>
                <a:ext cx="60000" cy="60000"/>
              </a:xfrm>
              <a:prstGeom prst="ellipse">
                <a:avLst/>
              </a:prstGeom>
              <a:solidFill>
                <a:srgbClr val="C054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2B758CA-2699-EB7E-1BE1-630D38D7ADA4}"/>
                  </a:ext>
                </a:extLst>
              </p:cNvPr>
              <p:cNvSpPr/>
              <p:nvPr/>
            </p:nvSpPr>
            <p:spPr>
              <a:xfrm>
                <a:off x="640080" y="3520439"/>
                <a:ext cx="457200" cy="457200"/>
              </a:xfrm>
              <a:prstGeom prst="ellipse">
                <a:avLst/>
              </a:prstGeom>
              <a:solidFill>
                <a:srgbClr val="F0C8C4"/>
              </a:solidFill>
              <a:ln w="31750">
                <a:solidFill>
                  <a:srgbClr val="C054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1C6F222-F857-75B2-B51D-3C3BCBE714BF}"/>
                  </a:ext>
                </a:extLst>
              </p:cNvPr>
              <p:cNvSpPr/>
              <p:nvPr/>
            </p:nvSpPr>
            <p:spPr>
              <a:xfrm>
                <a:off x="788680" y="3649039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C054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EDD771CB-9582-94CB-6809-B02C6F1A63EF}"/>
                  </a:ext>
                </a:extLst>
              </p:cNvPr>
              <p:cNvSpPr/>
              <p:nvPr/>
            </p:nvSpPr>
            <p:spPr>
              <a:xfrm>
                <a:off x="838680" y="3699039"/>
                <a:ext cx="60000" cy="60000"/>
              </a:xfrm>
              <a:prstGeom prst="ellipse">
                <a:avLst/>
              </a:prstGeom>
              <a:solidFill>
                <a:srgbClr val="C054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B98E385-F527-172B-12F7-0A8327946CE0}"/>
                  </a:ext>
                </a:extLst>
              </p:cNvPr>
              <p:cNvSpPr/>
              <p:nvPr/>
            </p:nvSpPr>
            <p:spPr>
              <a:xfrm>
                <a:off x="1143000" y="3520439"/>
                <a:ext cx="457200" cy="457200"/>
              </a:xfrm>
              <a:prstGeom prst="ellipse">
                <a:avLst/>
              </a:prstGeom>
              <a:solidFill>
                <a:srgbClr val="F0C8C4"/>
              </a:solidFill>
              <a:ln w="31750">
                <a:solidFill>
                  <a:srgbClr val="C054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AE09A67-335B-8FCB-4140-3B80125B8F52}"/>
                  </a:ext>
                </a:extLst>
              </p:cNvPr>
              <p:cNvSpPr/>
              <p:nvPr/>
            </p:nvSpPr>
            <p:spPr>
              <a:xfrm>
                <a:off x="1291600" y="3649039"/>
                <a:ext cx="160000" cy="160000"/>
              </a:xfrm>
              <a:prstGeom prst="ellipse">
                <a:avLst/>
              </a:prstGeom>
              <a:noFill/>
              <a:ln w="12700">
                <a:solidFill>
                  <a:srgbClr val="C054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579A53D-9099-14EF-2D92-3A9EF7905771}"/>
                  </a:ext>
                </a:extLst>
              </p:cNvPr>
              <p:cNvSpPr/>
              <p:nvPr/>
            </p:nvSpPr>
            <p:spPr>
              <a:xfrm>
                <a:off x="1341600" y="3699039"/>
                <a:ext cx="60000" cy="60000"/>
              </a:xfrm>
              <a:prstGeom prst="ellipse">
                <a:avLst/>
              </a:prstGeom>
              <a:solidFill>
                <a:srgbClr val="C0544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8CE5AF-9CDD-6BA9-C0B0-D3CC86A63969}"/>
              </a:ext>
            </a:extLst>
          </p:cNvPr>
          <p:cNvGrpSpPr/>
          <p:nvPr/>
        </p:nvGrpSpPr>
        <p:grpSpPr>
          <a:xfrm>
            <a:off x="1775089" y="4342090"/>
            <a:ext cx="10377486" cy="778177"/>
            <a:chOff x="1738266" y="4051634"/>
            <a:chExt cx="10241661" cy="778177"/>
          </a:xfrm>
        </p:grpSpPr>
        <p:sp>
          <p:nvSpPr>
            <p:cNvPr id="142" name="Rounded Rectangle 67">
              <a:extLst>
                <a:ext uri="{FF2B5EF4-FFF2-40B4-BE49-F238E27FC236}">
                  <a16:creationId xmlns:a16="http://schemas.microsoft.com/office/drawing/2014/main" id="{1AC1CF96-83CC-915F-42E0-E33EBB0CB0D6}"/>
                </a:ext>
              </a:extLst>
            </p:cNvPr>
            <p:cNvSpPr/>
            <p:nvPr/>
          </p:nvSpPr>
          <p:spPr>
            <a:xfrm>
              <a:off x="1748800" y="4137922"/>
              <a:ext cx="10138400" cy="691889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5A0184CC-6D26-F07C-BBFE-6509957B671D}"/>
                </a:ext>
              </a:extLst>
            </p:cNvPr>
            <p:cNvSpPr txBox="1"/>
            <p:nvPr/>
          </p:nvSpPr>
          <p:spPr>
            <a:xfrm>
              <a:off x="1738266" y="4051634"/>
              <a:ext cx="30284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200" b="1" i="0">
                  <a:solidFill>
                    <a:srgbClr val="FFFFFF"/>
                  </a:solidFill>
                </a:defRPr>
              </a:pPr>
              <a:r>
                <a:rPr sz="2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scANVI</a:t>
              </a:r>
              <a:r>
                <a:rPr lang="en-GB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(Xu et al., 2021) -</a:t>
              </a:r>
              <a:endPara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458DF4C-FDA9-4105-7DA7-9804C93EF0E0}"/>
                </a:ext>
              </a:extLst>
            </p:cNvPr>
            <p:cNvSpPr txBox="1"/>
            <p:nvPr/>
          </p:nvSpPr>
          <p:spPr>
            <a:xfrm>
              <a:off x="2011396" y="4404086"/>
              <a:ext cx="3697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buFont typeface="Wingdings" panose="05000000000000000000" pitchFamily="2" charset="2"/>
                <a:buChar char="ü"/>
                <a:defRPr sz="1400" b="0" i="0">
                  <a:solidFill>
                    <a:srgbClr val="8A3030"/>
                  </a:solidFill>
                </a:defRPr>
              </a:pPr>
              <a:r>
                <a:rPr lang="en-GB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E</a:t>
              </a:r>
              <a:r>
                <a:rPr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xten</a:t>
              </a:r>
              <a:r>
                <a:rPr lang="en-GB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sion</a:t>
              </a:r>
              <a:r>
                <a:rPr lang="en-GB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of </a:t>
              </a:r>
              <a:r>
                <a:rPr lang="en-GB"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scVI</a:t>
              </a:r>
              <a:endPara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D2A5AE34-D553-8CA0-B9DB-45A773FC5AAB}"/>
                </a:ext>
              </a:extLst>
            </p:cNvPr>
            <p:cNvGrpSpPr/>
            <p:nvPr/>
          </p:nvGrpSpPr>
          <p:grpSpPr>
            <a:xfrm>
              <a:off x="6035374" y="4405318"/>
              <a:ext cx="5944553" cy="408724"/>
              <a:chOff x="5797374" y="4595817"/>
              <a:chExt cx="5944553" cy="536242"/>
            </a:xfrm>
          </p:grpSpPr>
          <p:sp>
            <p:nvSpPr>
              <p:cNvPr id="168" name="Rounded Rectangle 80">
                <a:extLst>
                  <a:ext uri="{FF2B5EF4-FFF2-40B4-BE49-F238E27FC236}">
                    <a16:creationId xmlns:a16="http://schemas.microsoft.com/office/drawing/2014/main" id="{039B1F28-06A4-EF84-6B19-24336EBB4C9F}"/>
                  </a:ext>
                </a:extLst>
              </p:cNvPr>
              <p:cNvSpPr/>
              <p:nvPr/>
            </p:nvSpPr>
            <p:spPr>
              <a:xfrm>
                <a:off x="9514394" y="4609913"/>
                <a:ext cx="2117641" cy="417364"/>
              </a:xfrm>
              <a:prstGeom prst="roundRect">
                <a:avLst>
                  <a:gd name="adj" fmla="val 10000"/>
                </a:avLst>
              </a:prstGeom>
              <a:solidFill>
                <a:srgbClr val="FBEEED"/>
              </a:solidFill>
              <a:ln w="22860">
                <a:solidFill>
                  <a:srgbClr val="C054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j-lt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AEC3E0CE-53E2-EF35-08ED-471DFCCF244B}"/>
                  </a:ext>
                </a:extLst>
              </p:cNvPr>
              <p:cNvGrpSpPr/>
              <p:nvPr/>
            </p:nvGrpSpPr>
            <p:grpSpPr>
              <a:xfrm>
                <a:off x="5797374" y="4621788"/>
                <a:ext cx="1587467" cy="414572"/>
                <a:chOff x="3218213" y="5025542"/>
                <a:chExt cx="1587467" cy="414572"/>
              </a:xfrm>
            </p:grpSpPr>
            <p:sp>
              <p:nvSpPr>
                <p:cNvPr id="156" name="Rounded Rectangle 74">
                  <a:extLst>
                    <a:ext uri="{FF2B5EF4-FFF2-40B4-BE49-F238E27FC236}">
                      <a16:creationId xmlns:a16="http://schemas.microsoft.com/office/drawing/2014/main" id="{45F0A4E5-7A04-5AA0-5507-2FC2934BDF9A}"/>
                    </a:ext>
                  </a:extLst>
                </p:cNvPr>
                <p:cNvSpPr/>
                <p:nvPr/>
              </p:nvSpPr>
              <p:spPr>
                <a:xfrm>
                  <a:off x="3278447" y="5025542"/>
                  <a:ext cx="1521957" cy="374904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6F0FA"/>
                </a:solidFill>
                <a:ln w="22860">
                  <a:solidFill>
                    <a:srgbClr val="7AAAD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00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F2FE5910-03BD-FC2A-A2C8-ADDBC82C7FCB}"/>
                    </a:ext>
                  </a:extLst>
                </p:cNvPr>
                <p:cNvSpPr txBox="1"/>
                <p:nvPr/>
              </p:nvSpPr>
              <p:spPr>
                <a:xfrm>
                  <a:off x="3218213" y="5036313"/>
                  <a:ext cx="1587467" cy="4038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400" b="1" i="0">
                      <a:solidFill>
                        <a:srgbClr val="2A5A88"/>
                      </a:solidFill>
                    </a:defRPr>
                  </a:pPr>
                  <a:r>
                    <a:rPr sz="1400" dirty="0">
                      <a:latin typeface="+mj-lt"/>
                      <a:cs typeface="Times New Roman" panose="02020603050405020304" pitchFamily="18" charset="0"/>
                    </a:rPr>
                    <a:t>Raw count matrix</a:t>
                  </a:r>
                </a:p>
              </p:txBody>
            </p:sp>
          </p:grp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784D419-3B1E-6D94-7445-0C1293E481D3}"/>
                  </a:ext>
                </a:extLst>
              </p:cNvPr>
              <p:cNvSpPr txBox="1"/>
              <p:nvPr/>
            </p:nvSpPr>
            <p:spPr>
              <a:xfrm>
                <a:off x="7419769" y="4607118"/>
                <a:ext cx="234685" cy="52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 i="0">
                    <a:solidFill>
                      <a:srgbClr val="B0BCC8"/>
                    </a:solidFill>
                  </a:defRPr>
                </a:pPr>
                <a:r>
                  <a:rPr sz="2000" dirty="0">
                    <a:latin typeface="+mj-lt"/>
                    <a:cs typeface="Times New Roman" panose="02020603050405020304" pitchFamily="18" charset="0"/>
                  </a:rPr>
                  <a:t>+</a:t>
                </a:r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063F2091-28E4-C2F8-5E01-B459590B6831}"/>
                  </a:ext>
                </a:extLst>
              </p:cNvPr>
              <p:cNvGrpSpPr/>
              <p:nvPr/>
            </p:nvGrpSpPr>
            <p:grpSpPr>
              <a:xfrm>
                <a:off x="7571456" y="4633663"/>
                <a:ext cx="1812291" cy="414572"/>
                <a:chOff x="6265178" y="5025542"/>
                <a:chExt cx="1812291" cy="414572"/>
              </a:xfrm>
            </p:grpSpPr>
            <p:sp>
              <p:nvSpPr>
                <p:cNvPr id="162" name="Rounded Rectangle 77">
                  <a:extLst>
                    <a:ext uri="{FF2B5EF4-FFF2-40B4-BE49-F238E27FC236}">
                      <a16:creationId xmlns:a16="http://schemas.microsoft.com/office/drawing/2014/main" id="{7055CCEE-C878-66E3-EC09-FE712B2719FF}"/>
                    </a:ext>
                  </a:extLst>
                </p:cNvPr>
                <p:cNvSpPr/>
                <p:nvPr/>
              </p:nvSpPr>
              <p:spPr>
                <a:xfrm>
                  <a:off x="6360051" y="5025542"/>
                  <a:ext cx="1608572" cy="374904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DE8F5"/>
                </a:solidFill>
                <a:ln w="22860">
                  <a:solidFill>
                    <a:srgbClr val="8A7AB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00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31D33EAF-B182-E837-6EF0-1348596BF410}"/>
                    </a:ext>
                  </a:extLst>
                </p:cNvPr>
                <p:cNvSpPr txBox="1"/>
                <p:nvPr/>
              </p:nvSpPr>
              <p:spPr>
                <a:xfrm>
                  <a:off x="6265178" y="5036313"/>
                  <a:ext cx="1812291" cy="4038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400" b="1" i="0">
                      <a:solidFill>
                        <a:srgbClr val="5A4A80"/>
                      </a:solidFill>
                    </a:defRPr>
                  </a:pPr>
                  <a:r>
                    <a:rPr sz="1400" dirty="0" err="1">
                      <a:latin typeface="+mj-lt"/>
                      <a:cs typeface="Times New Roman" panose="02020603050405020304" pitchFamily="18" charset="0"/>
                    </a:rPr>
                    <a:t>batch_key</a:t>
                  </a:r>
                  <a:r>
                    <a:rPr sz="1400" dirty="0">
                      <a:latin typeface="+mj-lt"/>
                      <a:cs typeface="Times New Roman" panose="02020603050405020304" pitchFamily="18" charset="0"/>
                    </a:rPr>
                    <a:t> = sample</a:t>
                  </a:r>
                </a:p>
              </p:txBody>
            </p:sp>
          </p:grp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3264245C-B83C-5EBF-7E62-80EF82889C23}"/>
                  </a:ext>
                </a:extLst>
              </p:cNvPr>
              <p:cNvSpPr txBox="1"/>
              <p:nvPr/>
            </p:nvSpPr>
            <p:spPr>
              <a:xfrm>
                <a:off x="9297954" y="4595817"/>
                <a:ext cx="234685" cy="52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 i="0">
                    <a:solidFill>
                      <a:srgbClr val="B0BCC8"/>
                    </a:solidFill>
                  </a:defRPr>
                </a:pPr>
                <a:r>
                  <a:rPr sz="2000" dirty="0">
                    <a:latin typeface="+mj-lt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FED9B9D3-6947-210D-247F-4EEAA2C811BD}"/>
                  </a:ext>
                </a:extLst>
              </p:cNvPr>
              <p:cNvSpPr txBox="1"/>
              <p:nvPr/>
            </p:nvSpPr>
            <p:spPr>
              <a:xfrm>
                <a:off x="9465205" y="4644434"/>
                <a:ext cx="2276722" cy="403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1" i="0">
                    <a:solidFill>
                      <a:srgbClr val="8A3030"/>
                    </a:solidFill>
                  </a:defRPr>
                </a:pPr>
                <a:r>
                  <a:rPr sz="1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labels_key</a:t>
                </a:r>
                <a:r>
                  <a:rPr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 = </a:t>
                </a:r>
                <a:r>
                  <a:rPr lang="en-GB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cell types</a:t>
                </a:r>
                <a:endPara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18" name="Right Bracket 217">
            <a:extLst>
              <a:ext uri="{FF2B5EF4-FFF2-40B4-BE49-F238E27FC236}">
                <a16:creationId xmlns:a16="http://schemas.microsoft.com/office/drawing/2014/main" id="{8C428711-4AEA-66DF-5284-E95A5DF33414}"/>
              </a:ext>
            </a:extLst>
          </p:cNvPr>
          <p:cNvSpPr/>
          <p:nvPr/>
        </p:nvSpPr>
        <p:spPr>
          <a:xfrm>
            <a:off x="859841" y="2556570"/>
            <a:ext cx="69312" cy="2314661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11DE266-A983-213B-F5C8-835868F1F042}"/>
              </a:ext>
            </a:extLst>
          </p:cNvPr>
          <p:cNvCxnSpPr>
            <a:cxnSpLocks/>
          </p:cNvCxnSpPr>
          <p:nvPr/>
        </p:nvCxnSpPr>
        <p:spPr>
          <a:xfrm flipV="1">
            <a:off x="940373" y="1395213"/>
            <a:ext cx="837610" cy="13345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9E7026C6-6CB4-5E16-58BE-83FEEA93E1F9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940373" y="2313492"/>
            <a:ext cx="837610" cy="8727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D33A2C30-4B7F-2279-B39F-5A35CB03CDCA}"/>
              </a:ext>
            </a:extLst>
          </p:cNvPr>
          <p:cNvCxnSpPr>
            <a:cxnSpLocks/>
            <a:stCxn id="218" idx="2"/>
            <a:endCxn id="15" idx="1"/>
          </p:cNvCxnSpPr>
          <p:nvPr/>
        </p:nvCxnSpPr>
        <p:spPr>
          <a:xfrm>
            <a:off x="929153" y="3713901"/>
            <a:ext cx="845936" cy="6641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9FC4945-2607-9587-1E56-906BB41D0B90}"/>
              </a:ext>
            </a:extLst>
          </p:cNvPr>
          <p:cNvCxnSpPr>
            <a:cxnSpLocks/>
            <a:stCxn id="13" idx="3"/>
            <a:endCxn id="142" idx="1"/>
          </p:cNvCxnSpPr>
          <p:nvPr/>
        </p:nvCxnSpPr>
        <p:spPr>
          <a:xfrm>
            <a:off x="967296" y="4191103"/>
            <a:ext cx="818467" cy="583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271265BC-C0E6-6186-F440-0D523009F37A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929153" y="4645818"/>
            <a:ext cx="888055" cy="11822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842BB0-7741-4EDE-95ED-1C4688788939}"/>
              </a:ext>
            </a:extLst>
          </p:cNvPr>
          <p:cNvGrpSpPr/>
          <p:nvPr/>
        </p:nvGrpSpPr>
        <p:grpSpPr>
          <a:xfrm>
            <a:off x="1720653" y="3444108"/>
            <a:ext cx="10351935" cy="642912"/>
            <a:chOff x="1683415" y="2971866"/>
            <a:chExt cx="10216446" cy="642912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AAB8D81-3277-D39B-C81C-D6F36883A41C}"/>
                </a:ext>
              </a:extLst>
            </p:cNvPr>
            <p:cNvSpPr txBox="1"/>
            <p:nvPr/>
          </p:nvSpPr>
          <p:spPr>
            <a:xfrm>
              <a:off x="1683415" y="2971866"/>
              <a:ext cx="77200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200" b="1" i="0">
                  <a:solidFill>
                    <a:srgbClr val="FFFFFF"/>
                  </a:solidFill>
                </a:defRPr>
              </a:pPr>
              <a:r>
                <a:rPr sz="2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scVI</a:t>
              </a:r>
              <a:r>
                <a:rPr lang="en-GB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(Lopez et al., 2018) - Variational autoencoder</a:t>
              </a:r>
              <a:endPara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3C3D775-110D-82B2-3B6D-8FB499DC3AF3}"/>
                </a:ext>
              </a:extLst>
            </p:cNvPr>
            <p:cNvSpPr txBox="1"/>
            <p:nvPr/>
          </p:nvSpPr>
          <p:spPr>
            <a:xfrm>
              <a:off x="2006930" y="3307001"/>
              <a:ext cx="62644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buFont typeface="Wingdings" panose="05000000000000000000" pitchFamily="2" charset="2"/>
                <a:buChar char="ü"/>
                <a:defRPr sz="1400" b="0" i="0">
                  <a:solidFill>
                    <a:srgbClr val="5A4A80"/>
                  </a:solidFill>
                </a:defRPr>
              </a:pPr>
              <a:r>
                <a:rPr lang="en-GB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M</a:t>
              </a:r>
              <a:r>
                <a:rPr sz="1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odels</a:t>
              </a:r>
              <a:r>
                <a: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count distribution, encodes batch as covariate</a:t>
              </a:r>
            </a:p>
          </p:txBody>
        </p: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3EC0A5A6-DF9C-59A3-6FAF-1818C8EF6568}"/>
                </a:ext>
              </a:extLst>
            </p:cNvPr>
            <p:cNvGrpSpPr/>
            <p:nvPr/>
          </p:nvGrpSpPr>
          <p:grpSpPr>
            <a:xfrm>
              <a:off x="8333442" y="3113178"/>
              <a:ext cx="3566419" cy="408253"/>
              <a:chOff x="8155642" y="3495939"/>
              <a:chExt cx="3566419" cy="400110"/>
            </a:xfrm>
          </p:grpSpPr>
          <p:sp>
            <p:nvSpPr>
              <p:cNvPr id="130" name="Rounded Rectangle 61">
                <a:extLst>
                  <a:ext uri="{FF2B5EF4-FFF2-40B4-BE49-F238E27FC236}">
                    <a16:creationId xmlns:a16="http://schemas.microsoft.com/office/drawing/2014/main" id="{83AC4368-F6BE-10A5-7364-FD3EC6DE5564}"/>
                  </a:ext>
                </a:extLst>
              </p:cNvPr>
              <p:cNvSpPr/>
              <p:nvPr/>
            </p:nvSpPr>
            <p:spPr>
              <a:xfrm>
                <a:off x="10034156" y="3496004"/>
                <a:ext cx="1657049" cy="314554"/>
              </a:xfrm>
              <a:prstGeom prst="roundRect">
                <a:avLst>
                  <a:gd name="adj" fmla="val 10000"/>
                </a:avLst>
              </a:prstGeom>
              <a:solidFill>
                <a:srgbClr val="E6F0FA"/>
              </a:solidFill>
              <a:ln w="22860">
                <a:solidFill>
                  <a:srgbClr val="7AAAD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9D92A0F-E3AA-014F-273D-D1E663279E48}"/>
                  </a:ext>
                </a:extLst>
              </p:cNvPr>
              <p:cNvSpPr txBox="1"/>
              <p:nvPr/>
            </p:nvSpPr>
            <p:spPr>
              <a:xfrm>
                <a:off x="9786709" y="3495939"/>
                <a:ext cx="2346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 i="0">
                    <a:solidFill>
                      <a:srgbClr val="B0BCC8"/>
                    </a:solidFill>
                  </a:defRPr>
                </a:pPr>
                <a:r>
                  <a:rPr sz="2000" dirty="0">
                    <a:latin typeface="+mj-lt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136" name="Rounded Rectangle 64">
                <a:extLst>
                  <a:ext uri="{FF2B5EF4-FFF2-40B4-BE49-F238E27FC236}">
                    <a16:creationId xmlns:a16="http://schemas.microsoft.com/office/drawing/2014/main" id="{A8ADAF71-C505-09EB-2F90-94EEAB770FE0}"/>
                  </a:ext>
                </a:extLst>
              </p:cNvPr>
              <p:cNvSpPr/>
              <p:nvPr/>
            </p:nvSpPr>
            <p:spPr>
              <a:xfrm>
                <a:off x="8188265" y="3511901"/>
                <a:ext cx="1557492" cy="311061"/>
              </a:xfrm>
              <a:prstGeom prst="roundRect">
                <a:avLst>
                  <a:gd name="adj" fmla="val 10000"/>
                </a:avLst>
              </a:prstGeom>
              <a:solidFill>
                <a:srgbClr val="EDE8F5"/>
              </a:solidFill>
              <a:ln w="22860">
                <a:solidFill>
                  <a:srgbClr val="8A7A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E8CDAC8-45C7-C806-8683-1224193F6762}"/>
                  </a:ext>
                </a:extLst>
              </p:cNvPr>
              <p:cNvSpPr txBox="1"/>
              <p:nvPr/>
            </p:nvSpPr>
            <p:spPr>
              <a:xfrm>
                <a:off x="9982145" y="3539602"/>
                <a:ext cx="17399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1" i="0">
                    <a:solidFill>
                      <a:srgbClr val="5A4A80"/>
                    </a:solidFill>
                  </a:defRPr>
                </a:pPr>
                <a:r>
                  <a:rPr sz="1400" dirty="0" err="1">
                    <a:latin typeface="+mj-lt"/>
                    <a:cs typeface="Times New Roman" panose="02020603050405020304" pitchFamily="18" charset="0"/>
                  </a:rPr>
                  <a:t>batch_key</a:t>
                </a:r>
                <a:r>
                  <a:rPr sz="1400" dirty="0">
                    <a:latin typeface="+mj-lt"/>
                    <a:cs typeface="Times New Roman" panose="02020603050405020304" pitchFamily="18" charset="0"/>
                  </a:rPr>
                  <a:t> = sample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8F6FF7CC-9EC9-6482-5C77-B8366D01AAC6}"/>
                  </a:ext>
                </a:extLst>
              </p:cNvPr>
              <p:cNvSpPr txBox="1"/>
              <p:nvPr/>
            </p:nvSpPr>
            <p:spPr>
              <a:xfrm>
                <a:off x="8155642" y="3545135"/>
                <a:ext cx="1647391" cy="301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1" i="0">
                    <a:solidFill>
                      <a:srgbClr val="2A5A88"/>
                    </a:solidFill>
                  </a:defRPr>
                </a:pPr>
                <a:r>
                  <a:rPr sz="1400" dirty="0">
                    <a:latin typeface="+mj-lt"/>
                    <a:cs typeface="Times New Roman" panose="02020603050405020304" pitchFamily="18" charset="0"/>
                  </a:rPr>
                  <a:t>Raw count matrix</a:t>
                </a:r>
              </a:p>
            </p:txBody>
          </p:sp>
        </p:grpSp>
        <p:sp>
          <p:nvSpPr>
            <p:cNvPr id="15" name="Rounded Rectangle 67">
              <a:extLst>
                <a:ext uri="{FF2B5EF4-FFF2-40B4-BE49-F238E27FC236}">
                  <a16:creationId xmlns:a16="http://schemas.microsoft.com/office/drawing/2014/main" id="{8F8E6538-D983-A6F3-4C5A-24D76026339D}"/>
                </a:ext>
              </a:extLst>
            </p:cNvPr>
            <p:cNvSpPr/>
            <p:nvPr/>
          </p:nvSpPr>
          <p:spPr>
            <a:xfrm>
              <a:off x="1737139" y="3007171"/>
              <a:ext cx="10138400" cy="601803"/>
            </a:xfrm>
            <a:prstGeom prst="roundRect">
              <a:avLst>
                <a:gd name="adj" fmla="val 10000"/>
              </a:avLst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36F85C-222A-CBD1-0148-6D68789F9F02}"/>
              </a:ext>
            </a:extLst>
          </p:cNvPr>
          <p:cNvGrpSpPr/>
          <p:nvPr/>
        </p:nvGrpSpPr>
        <p:grpSpPr>
          <a:xfrm>
            <a:off x="1710051" y="1937280"/>
            <a:ext cx="10340788" cy="673309"/>
            <a:chOff x="1710051" y="1781253"/>
            <a:chExt cx="10205443" cy="67330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F7543E2-DCB5-1E83-6621-D1A6F57930E2}"/>
                </a:ext>
              </a:extLst>
            </p:cNvPr>
            <p:cNvGrpSpPr/>
            <p:nvPr/>
          </p:nvGrpSpPr>
          <p:grpSpPr>
            <a:xfrm>
              <a:off x="1710051" y="1781253"/>
              <a:ext cx="10180277" cy="606393"/>
              <a:chOff x="1710051" y="1908253"/>
              <a:chExt cx="10180277" cy="606393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EF33091-5946-8F8D-0E05-2E892EEFFA6E}"/>
                  </a:ext>
                </a:extLst>
              </p:cNvPr>
              <p:cNvSpPr txBox="1"/>
              <p:nvPr/>
            </p:nvSpPr>
            <p:spPr>
              <a:xfrm>
                <a:off x="1710051" y="1908253"/>
                <a:ext cx="83767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2200" b="1" i="0">
                    <a:solidFill>
                      <a:srgbClr val="FFFFFF"/>
                    </a:solidFill>
                  </a:defRPr>
                </a:pPr>
                <a:r>
                  <a:rPr sz="2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Scanorama</a:t>
                </a:r>
                <a:r>
                  <a:rPr lang="en-GB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 (Hie et al., 2019) - Panoramic stitching</a:t>
                </a:r>
                <a:endParaRPr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0C7E56E-1718-D1DA-A5C0-E6A273B09736}"/>
                  </a:ext>
                </a:extLst>
              </p:cNvPr>
              <p:cNvSpPr txBox="1"/>
              <p:nvPr/>
            </p:nvSpPr>
            <p:spPr>
              <a:xfrm>
                <a:off x="2006931" y="2186173"/>
                <a:ext cx="46498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ü"/>
                  <a:defRPr sz="1400" b="0" i="0">
                    <a:solidFill>
                      <a:srgbClr val="2A7A20"/>
                    </a:solidFill>
                  </a:defRPr>
                </a:pPr>
                <a:r>
                  <a:rPr lang="en-GB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F</a:t>
                </a:r>
                <a:r>
                  <a:rPr sz="1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inds</a:t>
                </a:r>
                <a:r>
                  <a:rPr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 mutual nearest neighbours across batches</a:t>
                </a:r>
                <a:r>
                  <a:rPr lang="en-GB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 </a:t>
                </a:r>
                <a:endPara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77B8FAB9-9313-087A-F0B5-B267E45D37E2}"/>
                  </a:ext>
                </a:extLst>
              </p:cNvPr>
              <p:cNvGrpSpPr/>
              <p:nvPr/>
            </p:nvGrpSpPr>
            <p:grpSpPr>
              <a:xfrm>
                <a:off x="8563490" y="2121629"/>
                <a:ext cx="3326838" cy="393017"/>
                <a:chOff x="6366887" y="2043590"/>
                <a:chExt cx="3326837" cy="454719"/>
              </a:xfrm>
            </p:grpSpPr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BA54D53C-BBD8-E26C-2B1C-F1557A7E4424}"/>
                    </a:ext>
                  </a:extLst>
                </p:cNvPr>
                <p:cNvGrpSpPr/>
                <p:nvPr/>
              </p:nvGrpSpPr>
              <p:grpSpPr>
                <a:xfrm>
                  <a:off x="6366887" y="2087238"/>
                  <a:ext cx="1539406" cy="411071"/>
                  <a:chOff x="6315617" y="2210465"/>
                  <a:chExt cx="1346176" cy="264415"/>
                </a:xfrm>
              </p:grpSpPr>
              <p:sp>
                <p:nvSpPr>
                  <p:cNvPr id="104" name="Rounded Rectangle 48">
                    <a:extLst>
                      <a:ext uri="{FF2B5EF4-FFF2-40B4-BE49-F238E27FC236}">
                        <a16:creationId xmlns:a16="http://schemas.microsoft.com/office/drawing/2014/main" id="{67A5AF2F-56DA-5760-F39C-54036A942E3F}"/>
                      </a:ext>
                    </a:extLst>
                  </p:cNvPr>
                  <p:cNvSpPr/>
                  <p:nvPr/>
                </p:nvSpPr>
                <p:spPr>
                  <a:xfrm>
                    <a:off x="6369468" y="2216572"/>
                    <a:ext cx="1266212" cy="258308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E6F0FA"/>
                  </a:solidFill>
                  <a:ln w="22860">
                    <a:solidFill>
                      <a:srgbClr val="7AAAD4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FB459C36-61A1-2445-1002-6A5C434F7764}"/>
                      </a:ext>
                    </a:extLst>
                  </p:cNvPr>
                  <p:cNvSpPr txBox="1"/>
                  <p:nvPr/>
                </p:nvSpPr>
                <p:spPr>
                  <a:xfrm>
                    <a:off x="6315617" y="2210465"/>
                    <a:ext cx="1346176" cy="2290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 sz="1400" b="1" i="0">
                        <a:solidFill>
                          <a:srgbClr val="2A5A88"/>
                        </a:solidFill>
                      </a:defRPr>
                    </a:pPr>
                    <a:r>
                      <a:rPr dirty="0">
                        <a:latin typeface="+mj-lt"/>
                        <a:cs typeface="Times New Roman" panose="02020603050405020304" pitchFamily="18" charset="0"/>
                      </a:rPr>
                      <a:t>expression matrix</a:t>
                    </a:r>
                  </a:p>
                </p:txBody>
              </p:sp>
            </p:grp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23A32388-210A-E3AE-4475-33319BA9053C}"/>
                    </a:ext>
                  </a:extLst>
                </p:cNvPr>
                <p:cNvSpPr txBox="1"/>
                <p:nvPr/>
              </p:nvSpPr>
              <p:spPr>
                <a:xfrm>
                  <a:off x="7948538" y="2043590"/>
                  <a:ext cx="234685" cy="4273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800" b="0" i="0">
                      <a:solidFill>
                        <a:srgbClr val="B0BCC8"/>
                      </a:solidFill>
                    </a:defRPr>
                  </a:pPr>
                  <a:r>
                    <a:rPr dirty="0">
                      <a:latin typeface="+mj-lt"/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grpSp>
              <p:nvGrpSpPr>
                <p:cNvPr id="208" name="Group 207">
                  <a:extLst>
                    <a:ext uri="{FF2B5EF4-FFF2-40B4-BE49-F238E27FC236}">
                      <a16:creationId xmlns:a16="http://schemas.microsoft.com/office/drawing/2014/main" id="{420EC318-43DC-3AC3-F196-EA3B0008870B}"/>
                    </a:ext>
                  </a:extLst>
                </p:cNvPr>
                <p:cNvGrpSpPr/>
                <p:nvPr/>
              </p:nvGrpSpPr>
              <p:grpSpPr>
                <a:xfrm>
                  <a:off x="8227857" y="2107937"/>
                  <a:ext cx="1465867" cy="390370"/>
                  <a:chOff x="8500985" y="2131687"/>
                  <a:chExt cx="1465867" cy="390370"/>
                </a:xfrm>
              </p:grpSpPr>
              <p:sp>
                <p:nvSpPr>
                  <p:cNvPr id="110" name="Rounded Rectangle 51">
                    <a:extLst>
                      <a:ext uri="{FF2B5EF4-FFF2-40B4-BE49-F238E27FC236}">
                        <a16:creationId xmlns:a16="http://schemas.microsoft.com/office/drawing/2014/main" id="{5B4E7C42-49BB-862D-FD56-3802EAE06F96}"/>
                      </a:ext>
                    </a:extLst>
                  </p:cNvPr>
                  <p:cNvSpPr/>
                  <p:nvPr/>
                </p:nvSpPr>
                <p:spPr>
                  <a:xfrm>
                    <a:off x="8500985" y="2131687"/>
                    <a:ext cx="1465866" cy="390370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EDE8F5"/>
                  </a:solidFill>
                  <a:ln w="22860">
                    <a:solidFill>
                      <a:srgbClr val="8A7AB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48428E4E-8506-5D23-A414-15816B897117}"/>
                      </a:ext>
                    </a:extLst>
                  </p:cNvPr>
                  <p:cNvSpPr txBox="1"/>
                  <p:nvPr/>
                </p:nvSpPr>
                <p:spPr>
                  <a:xfrm>
                    <a:off x="8500986" y="2146529"/>
                    <a:ext cx="1465866" cy="35609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 sz="1400" b="1" i="0">
                        <a:solidFill>
                          <a:srgbClr val="5A4A80"/>
                        </a:solidFill>
                      </a:defRPr>
                    </a:pPr>
                    <a:r>
                      <a:rPr dirty="0">
                        <a:latin typeface="+mj-lt"/>
                        <a:cs typeface="Times New Roman" panose="02020603050405020304" pitchFamily="18" charset="0"/>
                      </a:rPr>
                      <a:t>split by sample</a:t>
                    </a:r>
                  </a:p>
                </p:txBody>
              </p:sp>
            </p:grpSp>
          </p:grpSp>
        </p:grpSp>
        <p:sp>
          <p:nvSpPr>
            <p:cNvPr id="23" name="Rounded Rectangle 67">
              <a:extLst>
                <a:ext uri="{FF2B5EF4-FFF2-40B4-BE49-F238E27FC236}">
                  <a16:creationId xmlns:a16="http://schemas.microsoft.com/office/drawing/2014/main" id="{054BF043-7C09-4E4F-A95C-FB1392C4A4E6}"/>
                </a:ext>
              </a:extLst>
            </p:cNvPr>
            <p:cNvSpPr/>
            <p:nvPr/>
          </p:nvSpPr>
          <p:spPr>
            <a:xfrm>
              <a:off x="1777094" y="1860368"/>
              <a:ext cx="10138400" cy="594194"/>
            </a:xfrm>
            <a:prstGeom prst="roundRect">
              <a:avLst>
                <a:gd name="adj" fmla="val 10000"/>
              </a:avLst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7F4757F-67F7-308D-0DC6-A4E3F906C189}"/>
              </a:ext>
            </a:extLst>
          </p:cNvPr>
          <p:cNvGrpSpPr/>
          <p:nvPr/>
        </p:nvGrpSpPr>
        <p:grpSpPr>
          <a:xfrm>
            <a:off x="1702640" y="1050380"/>
            <a:ext cx="10361361" cy="636599"/>
            <a:chOff x="1702640" y="888908"/>
            <a:chExt cx="10225747" cy="636599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4931E46-D868-BBE7-1369-56C668AD6790}"/>
                </a:ext>
              </a:extLst>
            </p:cNvPr>
            <p:cNvSpPr txBox="1"/>
            <p:nvPr/>
          </p:nvSpPr>
          <p:spPr>
            <a:xfrm>
              <a:off x="1702640" y="888908"/>
              <a:ext cx="495401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200" b="1" i="0">
                  <a:solidFill>
                    <a:srgbClr val="FFFFFF"/>
                  </a:solidFill>
                </a:defRPr>
              </a:pPr>
              <a:r>
                <a:rPr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Harmony</a:t>
              </a:r>
              <a:r>
                <a:rPr lang="en-GB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(Korsunsky et al., 2019)</a:t>
              </a:r>
              <a:endPara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834B5D5-C35A-F141-76BF-EC4AD75F7F31}"/>
                </a:ext>
              </a:extLst>
            </p:cNvPr>
            <p:cNvSpPr txBox="1"/>
            <p:nvPr/>
          </p:nvSpPr>
          <p:spPr>
            <a:xfrm>
              <a:off x="2006931" y="1217730"/>
              <a:ext cx="51547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buFont typeface="Wingdings" panose="05000000000000000000" pitchFamily="2" charset="2"/>
                <a:buChar char="ü"/>
                <a:defRPr sz="1400" b="0" i="0">
                  <a:solidFill>
                    <a:srgbClr val="2A5A88"/>
                  </a:solidFill>
                </a:defRPr>
              </a:pPr>
              <a:r>
                <a: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Iterative adjust</a:t>
              </a:r>
              <a:r>
                <a:rPr lang="en-GB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ment of PCA</a:t>
              </a:r>
              <a:r>
                <a: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embeddings</a:t>
              </a:r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E0929BD5-4734-C72D-E7D8-234B912A0925}"/>
                </a:ext>
              </a:extLst>
            </p:cNvPr>
            <p:cNvGrpSpPr/>
            <p:nvPr/>
          </p:nvGrpSpPr>
          <p:grpSpPr>
            <a:xfrm>
              <a:off x="8364268" y="1094759"/>
              <a:ext cx="3564119" cy="400110"/>
              <a:chOff x="7439976" y="1170432"/>
              <a:chExt cx="3564119" cy="555295"/>
            </a:xfrm>
          </p:grpSpPr>
          <p:sp>
            <p:nvSpPr>
              <p:cNvPr id="78" name="Rounded Rectangle 35">
                <a:extLst>
                  <a:ext uri="{FF2B5EF4-FFF2-40B4-BE49-F238E27FC236}">
                    <a16:creationId xmlns:a16="http://schemas.microsoft.com/office/drawing/2014/main" id="{EF246017-6A07-39B0-7130-F521B4EBC530}"/>
                  </a:ext>
                </a:extLst>
              </p:cNvPr>
              <p:cNvSpPr/>
              <p:nvPr/>
            </p:nvSpPr>
            <p:spPr>
              <a:xfrm>
                <a:off x="7518919" y="1211778"/>
                <a:ext cx="1464722" cy="385480"/>
              </a:xfrm>
              <a:prstGeom prst="roundRect">
                <a:avLst>
                  <a:gd name="adj" fmla="val 10000"/>
                </a:avLst>
              </a:prstGeom>
              <a:solidFill>
                <a:srgbClr val="E8F5E4"/>
              </a:solidFill>
              <a:ln w="22860">
                <a:solidFill>
                  <a:srgbClr val="5AAA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FAD40D4-0AEB-10AD-2810-1F3F0AAAF40A}"/>
                  </a:ext>
                </a:extLst>
              </p:cNvPr>
              <p:cNvSpPr txBox="1"/>
              <p:nvPr/>
            </p:nvSpPr>
            <p:spPr>
              <a:xfrm>
                <a:off x="7439976" y="1181085"/>
                <a:ext cx="1591165" cy="427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1" i="0">
                    <a:solidFill>
                      <a:srgbClr val="3A7A30"/>
                    </a:solidFill>
                  </a:defRPr>
                </a:pPr>
                <a:r>
                  <a:rPr sz="1400" dirty="0">
                    <a:latin typeface="+mj-lt"/>
                    <a:cs typeface="Times New Roman" panose="02020603050405020304" pitchFamily="18" charset="0"/>
                  </a:rPr>
                  <a:t>PCA embedding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93F2C6A-AC41-B918-AF24-742B248E87B6}"/>
                  </a:ext>
                </a:extLst>
              </p:cNvPr>
              <p:cNvSpPr txBox="1"/>
              <p:nvPr/>
            </p:nvSpPr>
            <p:spPr>
              <a:xfrm>
                <a:off x="9020610" y="1170432"/>
                <a:ext cx="234685" cy="555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 i="0">
                    <a:solidFill>
                      <a:srgbClr val="B0BCC8"/>
                    </a:solidFill>
                  </a:defRPr>
                </a:pPr>
                <a:r>
                  <a:rPr sz="2000" dirty="0">
                    <a:latin typeface="+mj-lt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84" name="Rounded Rectangle 38">
                <a:extLst>
                  <a:ext uri="{FF2B5EF4-FFF2-40B4-BE49-F238E27FC236}">
                    <a16:creationId xmlns:a16="http://schemas.microsoft.com/office/drawing/2014/main" id="{416D4A20-45BC-3277-CBF4-C847ED4C02FF}"/>
                  </a:ext>
                </a:extLst>
              </p:cNvPr>
              <p:cNvSpPr/>
              <p:nvPr/>
            </p:nvSpPr>
            <p:spPr>
              <a:xfrm>
                <a:off x="9292264" y="1225136"/>
                <a:ext cx="1676821" cy="379907"/>
              </a:xfrm>
              <a:prstGeom prst="roundRect">
                <a:avLst>
                  <a:gd name="adj" fmla="val 10000"/>
                </a:avLst>
              </a:prstGeom>
              <a:solidFill>
                <a:srgbClr val="EDE8F5"/>
              </a:solidFill>
              <a:ln w="22860">
                <a:solidFill>
                  <a:srgbClr val="8A7A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D7399B2-443B-87D1-E480-53D467C74F93}"/>
                  </a:ext>
                </a:extLst>
              </p:cNvPr>
              <p:cNvSpPr txBox="1"/>
              <p:nvPr/>
            </p:nvSpPr>
            <p:spPr>
              <a:xfrm>
                <a:off x="9292264" y="1231457"/>
                <a:ext cx="1711831" cy="427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1" i="0">
                    <a:solidFill>
                      <a:srgbClr val="5A4A80"/>
                    </a:solidFill>
                  </a:defRPr>
                </a:pPr>
                <a:r>
                  <a:rPr sz="1400" dirty="0" err="1">
                    <a:latin typeface="+mj-lt"/>
                    <a:cs typeface="Times New Roman" panose="02020603050405020304" pitchFamily="18" charset="0"/>
                  </a:rPr>
                  <a:t>batch_key</a:t>
                </a:r>
                <a:r>
                  <a:rPr sz="1400" dirty="0">
                    <a:latin typeface="+mj-lt"/>
                    <a:cs typeface="Times New Roman" panose="02020603050405020304" pitchFamily="18" charset="0"/>
                  </a:rPr>
                  <a:t> = sample</a:t>
                </a:r>
              </a:p>
            </p:txBody>
          </p:sp>
        </p:grpSp>
        <p:sp>
          <p:nvSpPr>
            <p:cNvPr id="27" name="Rounded Rectangle 67">
              <a:extLst>
                <a:ext uri="{FF2B5EF4-FFF2-40B4-BE49-F238E27FC236}">
                  <a16:creationId xmlns:a16="http://schemas.microsoft.com/office/drawing/2014/main" id="{6E931F99-ED13-CA26-11E0-10D971E3F575}"/>
                </a:ext>
              </a:extLst>
            </p:cNvPr>
            <p:cNvSpPr/>
            <p:nvPr/>
          </p:nvSpPr>
          <p:spPr>
            <a:xfrm>
              <a:off x="1777094" y="949051"/>
              <a:ext cx="10138400" cy="570617"/>
            </a:xfrm>
            <a:prstGeom prst="roundRect">
              <a:avLst>
                <a:gd name="adj" fmla="val 10000"/>
              </a:avLst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4DE51B7-550A-3C84-30AC-66E5E2E8D3A6}"/>
              </a:ext>
            </a:extLst>
          </p:cNvPr>
          <p:cNvGrpSpPr/>
          <p:nvPr/>
        </p:nvGrpSpPr>
        <p:grpSpPr>
          <a:xfrm>
            <a:off x="1778081" y="5393466"/>
            <a:ext cx="10322605" cy="809396"/>
            <a:chOff x="1714507" y="5373564"/>
            <a:chExt cx="10187497" cy="809396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1CB5FF9-3FAA-CF45-8CCA-01A867BEA358}"/>
                </a:ext>
              </a:extLst>
            </p:cNvPr>
            <p:cNvSpPr txBox="1"/>
            <p:nvPr/>
          </p:nvSpPr>
          <p:spPr>
            <a:xfrm>
              <a:off x="1714507" y="5373564"/>
              <a:ext cx="63597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200" b="1" i="0">
                  <a:solidFill>
                    <a:srgbClr val="FFFFFF"/>
                  </a:solidFill>
                </a:defRPr>
              </a:pPr>
              <a:r>
                <a:rPr sz="2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inVAE</a:t>
              </a:r>
              <a:r>
                <a:rPr lang="en-GB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(</a:t>
              </a:r>
              <a:r>
                <a:rPr lang="fr-F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Aliee et al.,2024; </a:t>
              </a:r>
              <a:r>
                <a:rPr lang="fr-FR" sz="2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preprint</a:t>
              </a:r>
              <a:r>
                <a:rPr lang="fr-F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) - </a:t>
              </a:r>
              <a:r>
                <a:rPr lang="en-GB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Disentangled VAE </a:t>
              </a:r>
              <a:endPara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55E4EAE-0ADE-A8A4-7B12-8941A8471043}"/>
                </a:ext>
              </a:extLst>
            </p:cNvPr>
            <p:cNvSpPr txBox="1"/>
            <p:nvPr/>
          </p:nvSpPr>
          <p:spPr>
            <a:xfrm>
              <a:off x="1963957" y="5731460"/>
              <a:ext cx="60672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buFont typeface="Wingdings" panose="05000000000000000000" pitchFamily="2" charset="2"/>
                <a:buChar char="ü"/>
                <a:defRPr sz="1400" b="0" i="0">
                  <a:solidFill>
                    <a:srgbClr val="2A7E6F"/>
                  </a:solidFill>
                </a:defRPr>
              </a:pPr>
              <a:r>
                <a: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splits latent into invariant and spurious (batch)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F09CFA0-1B94-4DA4-A3EE-058CA588019C}"/>
                </a:ext>
              </a:extLst>
            </p:cNvPr>
            <p:cNvGrpSpPr/>
            <p:nvPr/>
          </p:nvGrpSpPr>
          <p:grpSpPr>
            <a:xfrm>
              <a:off x="5746142" y="5721346"/>
              <a:ext cx="6155862" cy="401933"/>
              <a:chOff x="5581042" y="5655093"/>
              <a:chExt cx="6155862" cy="474810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86E0C353-742C-1436-085A-FD07B18FDDFB}"/>
                  </a:ext>
                </a:extLst>
              </p:cNvPr>
              <p:cNvGrpSpPr/>
              <p:nvPr/>
            </p:nvGrpSpPr>
            <p:grpSpPr>
              <a:xfrm>
                <a:off x="5581042" y="5711992"/>
                <a:ext cx="1591777" cy="378246"/>
                <a:chOff x="2980350" y="5953317"/>
                <a:chExt cx="1591777" cy="319160"/>
              </a:xfrm>
            </p:grpSpPr>
            <p:sp>
              <p:nvSpPr>
                <p:cNvPr id="188" name="Rounded Rectangle 90">
                  <a:extLst>
                    <a:ext uri="{FF2B5EF4-FFF2-40B4-BE49-F238E27FC236}">
                      <a16:creationId xmlns:a16="http://schemas.microsoft.com/office/drawing/2014/main" id="{66212DC4-083B-FCFF-9D80-E679EC5A5056}"/>
                    </a:ext>
                  </a:extLst>
                </p:cNvPr>
                <p:cNvSpPr/>
                <p:nvPr/>
              </p:nvSpPr>
              <p:spPr>
                <a:xfrm>
                  <a:off x="2980350" y="5979286"/>
                  <a:ext cx="1582515" cy="293191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6F0FA"/>
                </a:solidFill>
                <a:ln w="22860">
                  <a:solidFill>
                    <a:srgbClr val="7AAAD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00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A7153EB8-FA6E-3E9D-1157-4B4AC15B3881}"/>
                    </a:ext>
                  </a:extLst>
                </p:cNvPr>
                <p:cNvSpPr txBox="1"/>
                <p:nvPr/>
              </p:nvSpPr>
              <p:spPr>
                <a:xfrm>
                  <a:off x="2989612" y="5953317"/>
                  <a:ext cx="158251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400" b="1" i="0">
                      <a:solidFill>
                        <a:srgbClr val="2A5A88"/>
                      </a:solidFill>
                    </a:defRPr>
                  </a:pPr>
                  <a:r>
                    <a:rPr sz="1400" dirty="0">
                      <a:latin typeface="+mj-lt"/>
                      <a:cs typeface="Times New Roman" panose="02020603050405020304" pitchFamily="18" charset="0"/>
                    </a:rPr>
                    <a:t>Raw count matrix</a:t>
                  </a:r>
                </a:p>
              </p:txBody>
            </p:sp>
          </p:grp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9AA8C8D3-6898-B7F3-41B2-7FB1AC778518}"/>
                  </a:ext>
                </a:extLst>
              </p:cNvPr>
              <p:cNvSpPr txBox="1"/>
              <p:nvPr/>
            </p:nvSpPr>
            <p:spPr>
              <a:xfrm>
                <a:off x="7159400" y="5655093"/>
                <a:ext cx="234685" cy="47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 i="0">
                    <a:solidFill>
                      <a:srgbClr val="B0BCC8"/>
                    </a:solidFill>
                  </a:defRPr>
                </a:pPr>
                <a:r>
                  <a:rPr sz="2000" dirty="0">
                    <a:latin typeface="+mj-lt"/>
                    <a:cs typeface="Times New Roman" panose="02020603050405020304" pitchFamily="18" charset="0"/>
                  </a:rPr>
                  <a:t>+</a:t>
                </a: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30116A58-7603-5E75-7E26-D620D1FE81AD}"/>
                  </a:ext>
                </a:extLst>
              </p:cNvPr>
              <p:cNvGrpSpPr/>
              <p:nvPr/>
            </p:nvGrpSpPr>
            <p:grpSpPr>
              <a:xfrm>
                <a:off x="7431839" y="5724515"/>
                <a:ext cx="1932968" cy="378729"/>
                <a:chOff x="7289339" y="5950147"/>
                <a:chExt cx="1932968" cy="378729"/>
              </a:xfrm>
            </p:grpSpPr>
            <p:sp>
              <p:nvSpPr>
                <p:cNvPr id="194" name="Rounded Rectangle 93">
                  <a:extLst>
                    <a:ext uri="{FF2B5EF4-FFF2-40B4-BE49-F238E27FC236}">
                      <a16:creationId xmlns:a16="http://schemas.microsoft.com/office/drawing/2014/main" id="{3E5B15EF-FEBF-97A0-7B58-6801C3922D98}"/>
                    </a:ext>
                  </a:extLst>
                </p:cNvPr>
                <p:cNvSpPr/>
                <p:nvPr/>
              </p:nvSpPr>
              <p:spPr>
                <a:xfrm>
                  <a:off x="7289339" y="5951276"/>
                  <a:ext cx="1920726" cy="3776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DE8F5"/>
                </a:solidFill>
                <a:ln w="22860">
                  <a:solidFill>
                    <a:srgbClr val="8A7AB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00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2990760F-69AA-1B36-BC5B-E2BB3C4D8579}"/>
                    </a:ext>
                  </a:extLst>
                </p:cNvPr>
                <p:cNvSpPr txBox="1"/>
                <p:nvPr/>
              </p:nvSpPr>
              <p:spPr>
                <a:xfrm>
                  <a:off x="7301581" y="5950147"/>
                  <a:ext cx="1920726" cy="3635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400" b="1" i="0">
                      <a:solidFill>
                        <a:srgbClr val="5A4A80"/>
                      </a:solidFill>
                    </a:defRPr>
                  </a:pPr>
                  <a:r>
                    <a:rPr sz="1400" dirty="0" err="1">
                      <a:latin typeface="+mj-lt"/>
                      <a:cs typeface="Times New Roman" panose="02020603050405020304" pitchFamily="18" charset="0"/>
                    </a:rPr>
                    <a:t>spurious_key</a:t>
                  </a:r>
                  <a:r>
                    <a:rPr sz="1400" dirty="0">
                      <a:latin typeface="+mj-lt"/>
                      <a:cs typeface="Times New Roman" panose="02020603050405020304" pitchFamily="18" charset="0"/>
                    </a:rPr>
                    <a:t> = sample</a:t>
                  </a:r>
                </a:p>
              </p:txBody>
            </p:sp>
          </p:grp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DAD7478F-4829-9139-6ECD-78BCB8428463}"/>
                  </a:ext>
                </a:extLst>
              </p:cNvPr>
              <p:cNvSpPr txBox="1"/>
              <p:nvPr/>
            </p:nvSpPr>
            <p:spPr>
              <a:xfrm>
                <a:off x="9376264" y="5657247"/>
                <a:ext cx="234685" cy="47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800" b="0" i="0">
                    <a:solidFill>
                      <a:srgbClr val="B0BCC8"/>
                    </a:solidFill>
                  </a:defRPr>
                </a:pPr>
                <a:r>
                  <a:rPr sz="2000" dirty="0">
                    <a:latin typeface="+mj-lt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200" name="Rounded Rectangle 96">
                <a:extLst>
                  <a:ext uri="{FF2B5EF4-FFF2-40B4-BE49-F238E27FC236}">
                    <a16:creationId xmlns:a16="http://schemas.microsoft.com/office/drawing/2014/main" id="{1DA37F6C-8987-010A-1472-A0209AF62A0E}"/>
                  </a:ext>
                </a:extLst>
              </p:cNvPr>
              <p:cNvSpPr/>
              <p:nvPr/>
            </p:nvSpPr>
            <p:spPr>
              <a:xfrm>
                <a:off x="9615764" y="5726381"/>
                <a:ext cx="2105870" cy="377598"/>
              </a:xfrm>
              <a:prstGeom prst="roundRect">
                <a:avLst>
                  <a:gd name="adj" fmla="val 10000"/>
                </a:avLst>
              </a:prstGeom>
              <a:solidFill>
                <a:srgbClr val="FDF3E8"/>
              </a:solidFill>
              <a:ln w="22860">
                <a:solidFill>
                  <a:srgbClr val="D487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A40D467-68C7-FFC7-AD0F-A53B43256AAE}"/>
                  </a:ext>
                </a:extLst>
              </p:cNvPr>
              <p:cNvSpPr txBox="1"/>
              <p:nvPr/>
            </p:nvSpPr>
            <p:spPr>
              <a:xfrm>
                <a:off x="9556352" y="5700766"/>
                <a:ext cx="2180552" cy="363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400" b="1" i="0">
                    <a:solidFill>
                      <a:srgbClr val="8A5A20"/>
                    </a:solidFill>
                  </a:defRPr>
                </a:pPr>
                <a:r>
                  <a:rPr sz="1400" dirty="0" err="1">
                    <a:latin typeface="+mj-lt"/>
                    <a:cs typeface="Times New Roman" panose="02020603050405020304" pitchFamily="18" charset="0"/>
                  </a:rPr>
                  <a:t>invariant_key</a:t>
                </a:r>
                <a:r>
                  <a:rPr sz="1400" dirty="0">
                    <a:latin typeface="+mj-lt"/>
                    <a:cs typeface="Times New Roman" panose="02020603050405020304" pitchFamily="18" charset="0"/>
                  </a:rPr>
                  <a:t> = condition</a:t>
                </a:r>
              </a:p>
            </p:txBody>
          </p:sp>
        </p:grpSp>
        <p:sp>
          <p:nvSpPr>
            <p:cNvPr id="41" name="Rounded Rectangle 67">
              <a:extLst>
                <a:ext uri="{FF2B5EF4-FFF2-40B4-BE49-F238E27FC236}">
                  <a16:creationId xmlns:a16="http://schemas.microsoft.com/office/drawing/2014/main" id="{3DC45093-988F-85E5-88BB-B4F53192A7B6}"/>
                </a:ext>
              </a:extLst>
            </p:cNvPr>
            <p:cNvSpPr/>
            <p:nvPr/>
          </p:nvSpPr>
          <p:spPr>
            <a:xfrm>
              <a:off x="1753122" y="5433441"/>
              <a:ext cx="10138400" cy="749519"/>
            </a:xfrm>
            <a:prstGeom prst="roundRect">
              <a:avLst>
                <a:gd name="adj" fmla="val 10000"/>
              </a:avLst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Slide Number Placeholder 6">
            <a:extLst>
              <a:ext uri="{FF2B5EF4-FFF2-40B4-BE49-F238E27FC236}">
                <a16:creationId xmlns:a16="http://schemas.microsoft.com/office/drawing/2014/main" id="{40FCF172-D480-EDE9-2A5B-C01D8C19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11</a:t>
            </a:fld>
            <a:endParaRPr lang="en-US" sz="1600" b="1">
              <a:latin typeface="+mj-l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B05689-E72B-A88C-109E-48D2DA989F71}"/>
              </a:ext>
            </a:extLst>
          </p:cNvPr>
          <p:cNvSpPr txBox="1"/>
          <p:nvPr/>
        </p:nvSpPr>
        <p:spPr>
          <a:xfrm rot="18043399">
            <a:off x="689575" y="1724976"/>
            <a:ext cx="1305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+mj-lt"/>
              </a:rPr>
              <a:t>Classical integration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C5F41B-8A2E-B2C3-0395-D254730F7928}"/>
              </a:ext>
            </a:extLst>
          </p:cNvPr>
          <p:cNvSpPr txBox="1"/>
          <p:nvPr/>
        </p:nvSpPr>
        <p:spPr>
          <a:xfrm>
            <a:off x="141161" y="1948697"/>
            <a:ext cx="56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+mj-lt"/>
              </a:rPr>
              <a:t>CDE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A401D-4498-9A14-B9E8-EFA14E422E10}"/>
              </a:ext>
            </a:extLst>
          </p:cNvPr>
          <p:cNvSpPr txBox="1"/>
          <p:nvPr/>
        </p:nvSpPr>
        <p:spPr>
          <a:xfrm>
            <a:off x="141160" y="3003824"/>
            <a:ext cx="56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+mj-lt"/>
              </a:rPr>
              <a:t>TAA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1B0A2-2457-6547-1E4A-ECA86B7B0B82}"/>
              </a:ext>
            </a:extLst>
          </p:cNvPr>
          <p:cNvSpPr txBox="1"/>
          <p:nvPr/>
        </p:nvSpPr>
        <p:spPr>
          <a:xfrm>
            <a:off x="-34370" y="4006437"/>
            <a:ext cx="100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+mj-lt"/>
              </a:rPr>
              <a:t>Healthy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51DD02-A484-8509-A3F3-02493F69FB39}"/>
              </a:ext>
            </a:extLst>
          </p:cNvPr>
          <p:cNvSpPr txBox="1"/>
          <p:nvPr/>
        </p:nvSpPr>
        <p:spPr>
          <a:xfrm rot="2161722">
            <a:off x="941897" y="4186010"/>
            <a:ext cx="100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0070C0"/>
                </a:solidFill>
                <a:latin typeface="+mj-lt"/>
              </a:rPr>
              <a:t>Deep Learning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710011-B7BD-F98F-B1F8-44A990D81922}"/>
              </a:ext>
            </a:extLst>
          </p:cNvPr>
          <p:cNvSpPr txBox="1"/>
          <p:nvPr/>
        </p:nvSpPr>
        <p:spPr>
          <a:xfrm>
            <a:off x="4576619" y="4345258"/>
            <a:ext cx="25426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rPr lang="en-GB" sz="200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Semi-supervised VAE</a:t>
            </a:r>
            <a:endParaRPr sz="2000" dirty="0">
              <a:solidFill>
                <a:srgbClr val="0070C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2A312C9-EDF1-ECC2-AD56-F42E9181B749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Does harmonization preserve hepatocyte biology?</a:t>
            </a:r>
          </a:p>
        </p:txBody>
      </p:sp>
    </p:spTree>
    <p:extLst>
      <p:ext uri="{BB962C8B-B14F-4D97-AF65-F5344CB8AC3E}">
        <p14:creationId xmlns:p14="http://schemas.microsoft.com/office/powerpoint/2010/main" val="344102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25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E96804-1269-E3EA-4C59-3CAC91AED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813" y="1088136"/>
            <a:ext cx="10265403" cy="49497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9BBBCB-E56B-C921-D3F3-2CC1CDCECD51}"/>
              </a:ext>
            </a:extLst>
          </p:cNvPr>
          <p:cNvSpPr/>
          <p:nvPr/>
        </p:nvSpPr>
        <p:spPr>
          <a:xfrm>
            <a:off x="0" y="-10887"/>
            <a:ext cx="12191695" cy="936173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Integration preserves cell structure; cell type specific biology is not always preserved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7E1C9-DC5A-01E7-6673-CC9524EE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12</a:t>
            </a:fld>
            <a:endParaRPr lang="en-US" sz="1600" b="1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81418B-275C-ED75-EF01-47C5C5E65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89" y="3961010"/>
            <a:ext cx="1647143" cy="13680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D139C2-59A0-6E60-CA67-3828C294F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2" y="1070804"/>
            <a:ext cx="1677040" cy="13680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D8B3F1-BB93-9E7E-BDC9-9F3CA670A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41" y="2438816"/>
            <a:ext cx="805802" cy="9493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C68061F-BCF7-B057-1B30-C789B892865F}"/>
              </a:ext>
            </a:extLst>
          </p:cNvPr>
          <p:cNvGrpSpPr/>
          <p:nvPr/>
        </p:nvGrpSpPr>
        <p:grpSpPr>
          <a:xfrm>
            <a:off x="523341" y="5471823"/>
            <a:ext cx="682243" cy="566028"/>
            <a:chOff x="2902123" y="2790736"/>
            <a:chExt cx="1538620" cy="12765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D9D980-FE59-C14A-8B04-8F5E44BB9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02123" y="2790736"/>
              <a:ext cx="1495634" cy="127652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73C092-0A00-0D13-E727-C907AF289CF7}"/>
                </a:ext>
              </a:extLst>
            </p:cNvPr>
            <p:cNvSpPr/>
            <p:nvPr/>
          </p:nvSpPr>
          <p:spPr>
            <a:xfrm>
              <a:off x="2945108" y="2873829"/>
              <a:ext cx="1495635" cy="11934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4292-38E9-C186-8B41-360408E8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2584F0C-2CFA-86BD-54D7-E114D3B75168}"/>
              </a:ext>
            </a:extLst>
          </p:cNvPr>
          <p:cNvGrpSpPr>
            <a:grpSpLocks/>
          </p:cNvGrpSpPr>
          <p:nvPr/>
        </p:nvGrpSpPr>
        <p:grpSpPr>
          <a:xfrm>
            <a:off x="271809" y="2326247"/>
            <a:ext cx="11746020" cy="3385477"/>
            <a:chOff x="179564" y="2002971"/>
            <a:chExt cx="11254963" cy="32439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4344D25-76A5-35A9-C007-C0908A845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8097"/>
            <a:stretch>
              <a:fillRect/>
            </a:stretch>
          </p:blipFill>
          <p:spPr>
            <a:xfrm>
              <a:off x="179564" y="2002971"/>
              <a:ext cx="3532465" cy="321128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EB4863-BF47-CD32-1A36-8438C9F73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0270" y="2002971"/>
              <a:ext cx="4044257" cy="324394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02025DB-A5C1-D75F-537E-654D974D0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2703"/>
            <a:stretch>
              <a:fillRect/>
            </a:stretch>
          </p:blipFill>
          <p:spPr>
            <a:xfrm>
              <a:off x="3940627" y="2002971"/>
              <a:ext cx="3219006" cy="321128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79CACF-D10D-E29D-52EC-2966173EB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8445" y="2155349"/>
              <a:ext cx="381053" cy="30484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E817FCB-AABB-2F0C-ABFF-4928B4FB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875" y="2177120"/>
              <a:ext cx="381053" cy="304843"/>
            </a:xfrm>
            <a:prstGeom prst="rect">
              <a:avLst/>
            </a:prstGeom>
          </p:spPr>
        </p:pic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2F912ED-7BC9-07E9-DB7C-1E977AD23FEB}"/>
              </a:ext>
            </a:extLst>
          </p:cNvPr>
          <p:cNvSpPr/>
          <p:nvPr/>
        </p:nvSpPr>
        <p:spPr>
          <a:xfrm>
            <a:off x="3962400" y="3831772"/>
            <a:ext cx="332342" cy="4245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F56BEF7-DE94-9819-288C-A9E5B4255A61}"/>
              </a:ext>
            </a:extLst>
          </p:cNvPr>
          <p:cNvSpPr/>
          <p:nvPr/>
        </p:nvSpPr>
        <p:spPr>
          <a:xfrm>
            <a:off x="7443319" y="3831772"/>
            <a:ext cx="332342" cy="4245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690FFF-24C2-F192-F63D-6491373A8E31}"/>
              </a:ext>
            </a:extLst>
          </p:cNvPr>
          <p:cNvSpPr txBox="1"/>
          <p:nvPr/>
        </p:nvSpPr>
        <p:spPr>
          <a:xfrm>
            <a:off x="8333013" y="6488668"/>
            <a:ext cx="210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+mj-lt"/>
              </a:rPr>
              <a:t>Heumos</a:t>
            </a:r>
            <a:r>
              <a:rPr lang="en-GB" dirty="0">
                <a:latin typeface="+mj-lt"/>
              </a:rPr>
              <a:t> et al., 2026</a:t>
            </a: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4F66C5FB-8199-6E2D-7A89-FB595718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13</a:t>
            </a:fld>
            <a:endParaRPr lang="en-US" sz="1600" b="1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178A0-DBBA-41A0-3364-5DEDFE8EBA7E}"/>
              </a:ext>
            </a:extLst>
          </p:cNvPr>
          <p:cNvSpPr txBox="1"/>
          <p:nvPr/>
        </p:nvSpPr>
        <p:spPr>
          <a:xfrm>
            <a:off x="468365" y="1146276"/>
            <a:ext cx="11549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+mj-lt"/>
              </a:rPr>
              <a:t>What if we don’t integrate, but just calculate perturbation distances/vector shift?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01935-3ECA-E68B-7213-4DC4A7B97BD2}"/>
              </a:ext>
            </a:extLst>
          </p:cNvPr>
          <p:cNvSpPr/>
          <p:nvPr/>
        </p:nvSpPr>
        <p:spPr>
          <a:xfrm>
            <a:off x="0" y="-10887"/>
            <a:ext cx="12191695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Do we need a different approach?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9B251-62B5-429D-6034-6DE722EB1D9D}"/>
              </a:ext>
            </a:extLst>
          </p:cNvPr>
          <p:cNvSpPr txBox="1"/>
          <p:nvPr/>
        </p:nvSpPr>
        <p:spPr>
          <a:xfrm>
            <a:off x="7892413" y="4629702"/>
            <a:ext cx="973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latin typeface="+mj-lt"/>
              </a:rPr>
              <a:t>Control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8C151-E24D-00AB-2DC2-2CCEFB0A9490}"/>
              </a:ext>
            </a:extLst>
          </p:cNvPr>
          <p:cNvSpPr txBox="1"/>
          <p:nvPr/>
        </p:nvSpPr>
        <p:spPr>
          <a:xfrm>
            <a:off x="10689773" y="3747962"/>
            <a:ext cx="140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+mj-lt"/>
              </a:rPr>
              <a:t>Condition 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20F0F-89AE-150D-34F9-E00DB7725635}"/>
              </a:ext>
            </a:extLst>
          </p:cNvPr>
          <p:cNvSpPr txBox="1"/>
          <p:nvPr/>
        </p:nvSpPr>
        <p:spPr>
          <a:xfrm>
            <a:off x="10689775" y="5326394"/>
            <a:ext cx="132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Condition B</a:t>
            </a:r>
          </a:p>
        </p:txBody>
      </p:sp>
    </p:spTree>
    <p:extLst>
      <p:ext uri="{BB962C8B-B14F-4D97-AF65-F5344CB8AC3E}">
        <p14:creationId xmlns:p14="http://schemas.microsoft.com/office/powerpoint/2010/main" val="2223141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D3B9-0115-5A52-F2A4-4D11FB8C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08_signature_recovery_benchmark.png">
            <a:extLst>
              <a:ext uri="{FF2B5EF4-FFF2-40B4-BE49-F238E27FC236}">
                <a16:creationId xmlns:a16="http://schemas.microsoft.com/office/drawing/2014/main" id="{30DFCA9A-EDF9-A190-5B9F-F1BDF1692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50" r="43724" b="18153"/>
          <a:stretch>
            <a:fillRect/>
          </a:stretch>
        </p:blipFill>
        <p:spPr>
          <a:xfrm>
            <a:off x="968039" y="663762"/>
            <a:ext cx="10255615" cy="5866761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E9996AB-1FED-E4D0-5E71-D4E197DA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14</a:t>
            </a:fld>
            <a:endParaRPr lang="en-US" sz="1600" b="1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FF524-3588-522D-96BE-13F8EFF72BA7}"/>
              </a:ext>
            </a:extLst>
          </p:cNvPr>
          <p:cNvSpPr/>
          <p:nvPr/>
        </p:nvSpPr>
        <p:spPr>
          <a:xfrm>
            <a:off x="0" y="-10887"/>
            <a:ext cx="12191695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solidFill>
                  <a:srgbClr val="FFFFFF"/>
                </a:solidFill>
                <a:latin typeface="+mj-lt"/>
              </a:rPr>
              <a:t>Vector shift outperforms integration in marker gene recovery</a:t>
            </a:r>
          </a:p>
        </p:txBody>
      </p:sp>
    </p:spTree>
    <p:extLst>
      <p:ext uri="{BB962C8B-B14F-4D97-AF65-F5344CB8AC3E}">
        <p14:creationId xmlns:p14="http://schemas.microsoft.com/office/powerpoint/2010/main" val="3563401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0B48F-5E65-2CA9-1D19-08F2BBA4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54524E-3C58-C30B-8FB8-BA0C0D6C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125" y="2121248"/>
            <a:ext cx="1247314" cy="134247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9D3FAFF-93D7-AFF0-8E3F-0BB52C30C3DB}"/>
              </a:ext>
            </a:extLst>
          </p:cNvPr>
          <p:cNvGrpSpPr/>
          <p:nvPr/>
        </p:nvGrpSpPr>
        <p:grpSpPr>
          <a:xfrm>
            <a:off x="303873" y="2738927"/>
            <a:ext cx="1778778" cy="1692748"/>
            <a:chOff x="4510510" y="1352130"/>
            <a:chExt cx="1778778" cy="1692748"/>
          </a:xfrm>
        </p:grpSpPr>
        <p:pic>
          <p:nvPicPr>
            <p:cNvPr id="9" name="Picture 8" descr="Fig. 1: Design of single-cell integration benchmarking (scIB).">
              <a:extLst>
                <a:ext uri="{FF2B5EF4-FFF2-40B4-BE49-F238E27FC236}">
                  <a16:creationId xmlns:a16="http://schemas.microsoft.com/office/drawing/2014/main" id="{47F7D554-C3E3-A2D5-ED2A-EFFF94FC5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1820" t="1" r="22699" b="74322"/>
            <a:stretch>
              <a:fillRect/>
            </a:stretch>
          </p:blipFill>
          <p:spPr>
            <a:xfrm>
              <a:off x="4510510" y="1352130"/>
              <a:ext cx="1778778" cy="169274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1EACC1-7832-09FE-748E-F18B53ACE0C0}"/>
                </a:ext>
              </a:extLst>
            </p:cNvPr>
            <p:cNvSpPr/>
            <p:nvPr/>
          </p:nvSpPr>
          <p:spPr>
            <a:xfrm>
              <a:off x="5290288" y="1776411"/>
              <a:ext cx="655157" cy="4291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B2FF2F-1535-A8E4-47AF-5E6594144243}"/>
              </a:ext>
            </a:extLst>
          </p:cNvPr>
          <p:cNvSpPr txBox="1">
            <a:spLocks/>
          </p:cNvSpPr>
          <p:nvPr/>
        </p:nvSpPr>
        <p:spPr>
          <a:xfrm>
            <a:off x="2189112" y="584678"/>
            <a:ext cx="9828718" cy="5639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b="1" dirty="0">
                <a:latin typeface="+mj-lt"/>
              </a:rPr>
              <a:t>Conclusions</a:t>
            </a:r>
            <a:endParaRPr lang="en-GB" sz="2200" dirty="0">
              <a:latin typeface="+mj-lt"/>
            </a:endParaRP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dirty="0">
                <a:latin typeface="+mj-lt"/>
              </a:rPr>
              <a:t>Integration preserves cell structure; cell type specific biology is </a:t>
            </a:r>
            <a:r>
              <a:rPr lang="en-GB" sz="2200" b="1" dirty="0">
                <a:latin typeface="+mj-lt"/>
              </a:rPr>
              <a:t>NOT ALWAYS</a:t>
            </a:r>
            <a:r>
              <a:rPr lang="en-GB" sz="2200" dirty="0">
                <a:latin typeface="+mj-lt"/>
              </a:rPr>
              <a:t> preserved</a:t>
            </a: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dirty="0">
                <a:latin typeface="+mj-lt"/>
              </a:rPr>
              <a:t>However, large sample sizes, extensive hyperparameter tuning could improve performance especially for deep learning models</a:t>
            </a: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dirty="0">
                <a:latin typeface="+mj-lt"/>
              </a:rPr>
              <a:t>Vector shift (Better signature discovery)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  <a:latin typeface="Times New Roman"/>
              </a:defRPr>
            </a:pPr>
            <a:endParaRPr lang="en-GB" sz="2200" dirty="0">
              <a:latin typeface="+mj-lt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b="1" dirty="0">
                <a:latin typeface="+mj-lt"/>
              </a:rPr>
              <a:t>What next</a:t>
            </a: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dirty="0">
                <a:latin typeface="+mj-lt"/>
              </a:rPr>
              <a:t>Integrate multiple datasets across different labs with more comprehensive hyperparameter tuning </a:t>
            </a:r>
          </a:p>
          <a:p>
            <a:pPr marL="800100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  <a:latin typeface="Times New Roman"/>
              </a:defRPr>
            </a:pPr>
            <a:r>
              <a:rPr lang="en-GB" sz="2200" dirty="0">
                <a:latin typeface="+mj-lt"/>
              </a:rPr>
              <a:t>Build </a:t>
            </a:r>
            <a:r>
              <a:rPr sz="2200" dirty="0">
                <a:latin typeface="+mj-lt"/>
              </a:rPr>
              <a:t>a comprehensive hepatocyte meta-atlas</a:t>
            </a:r>
            <a:r>
              <a:rPr lang="en-GB" sz="2200" dirty="0">
                <a:latin typeface="+mj-lt"/>
              </a:rPr>
              <a:t> across multiple liver conditions</a:t>
            </a:r>
            <a:endParaRPr sz="2200" dirty="0">
              <a:latin typeface="+mj-lt"/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35772027-EE43-0062-4016-4322E5AE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15</a:t>
            </a:fld>
            <a:endParaRPr lang="en-US" sz="1600" b="1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F67EE9-3DC1-0A5F-7F8D-BB2CE657E458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sz="3200" b="1" dirty="0">
                <a:latin typeface="+mj-lt"/>
              </a:rPr>
              <a:t>Conclusions and prospects</a:t>
            </a:r>
            <a:endParaRPr sz="3200" b="1" dirty="0"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923AB0-2118-9550-3076-CB1233E24738}"/>
              </a:ext>
            </a:extLst>
          </p:cNvPr>
          <p:cNvGrpSpPr/>
          <p:nvPr/>
        </p:nvGrpSpPr>
        <p:grpSpPr>
          <a:xfrm>
            <a:off x="303873" y="665315"/>
            <a:ext cx="1752862" cy="1692748"/>
            <a:chOff x="1458689" y="1403119"/>
            <a:chExt cx="1752862" cy="1692748"/>
          </a:xfrm>
        </p:grpSpPr>
        <p:pic>
          <p:nvPicPr>
            <p:cNvPr id="21" name="Picture 20" descr="Fig. 1: Design of single-cell integration benchmarking (scIB).">
              <a:extLst>
                <a:ext uri="{FF2B5EF4-FFF2-40B4-BE49-F238E27FC236}">
                  <a16:creationId xmlns:a16="http://schemas.microsoft.com/office/drawing/2014/main" id="{034B7D05-3B74-B1EE-F719-01EC45895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234" t="1" r="58510" b="74322"/>
            <a:stretch>
              <a:fillRect/>
            </a:stretch>
          </p:blipFill>
          <p:spPr>
            <a:xfrm>
              <a:off x="1458689" y="1403119"/>
              <a:ext cx="1752862" cy="1692748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C1C3A4A-79D1-951F-728C-C8583329C2AF}"/>
                </a:ext>
              </a:extLst>
            </p:cNvPr>
            <p:cNvSpPr/>
            <p:nvPr/>
          </p:nvSpPr>
          <p:spPr>
            <a:xfrm>
              <a:off x="2170987" y="2242665"/>
              <a:ext cx="422685" cy="2768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107ADA-8A52-9C8F-8DED-B26E0E7B64DA}"/>
                </a:ext>
              </a:extLst>
            </p:cNvPr>
            <p:cNvSpPr/>
            <p:nvPr/>
          </p:nvSpPr>
          <p:spPr>
            <a:xfrm>
              <a:off x="2368238" y="1698469"/>
              <a:ext cx="422685" cy="36424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579CBB1-B8A4-29A8-52BB-08F472484E57}"/>
                </a:ext>
              </a:extLst>
            </p:cNvPr>
            <p:cNvSpPr/>
            <p:nvPr/>
          </p:nvSpPr>
          <p:spPr>
            <a:xfrm>
              <a:off x="2664111" y="2138935"/>
              <a:ext cx="422685" cy="2768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76C55D8-9C52-5C85-EDF4-163878CA594A}"/>
                </a:ext>
              </a:extLst>
            </p:cNvPr>
            <p:cNvSpPr/>
            <p:nvPr/>
          </p:nvSpPr>
          <p:spPr>
            <a:xfrm>
              <a:off x="1565149" y="1536707"/>
              <a:ext cx="422685" cy="2768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</p:grp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29EF320-2859-034C-3C21-CB3F9C62D8DA}"/>
              </a:ext>
            </a:extLst>
          </p:cNvPr>
          <p:cNvSpPr/>
          <p:nvPr/>
        </p:nvSpPr>
        <p:spPr>
          <a:xfrm rot="5400000">
            <a:off x="802597" y="2302071"/>
            <a:ext cx="427146" cy="4245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4EFABD7-A94D-7147-42F4-A03630AAF8B5}"/>
              </a:ext>
            </a:extLst>
          </p:cNvPr>
          <p:cNvGrpSpPr/>
          <p:nvPr/>
        </p:nvGrpSpPr>
        <p:grpSpPr>
          <a:xfrm>
            <a:off x="314341" y="4874733"/>
            <a:ext cx="1538620" cy="1276528"/>
            <a:chOff x="2902123" y="2790736"/>
            <a:chExt cx="1538620" cy="127652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6504D75-5A09-3F08-7589-F0E082F0F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2123" y="2790736"/>
              <a:ext cx="1495634" cy="1276528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967CA26-0A38-6F41-E4A5-B4EA5FFDED38}"/>
                </a:ext>
              </a:extLst>
            </p:cNvPr>
            <p:cNvSpPr/>
            <p:nvPr/>
          </p:nvSpPr>
          <p:spPr>
            <a:xfrm>
              <a:off x="2945108" y="2873829"/>
              <a:ext cx="1495635" cy="11934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+mj-lt"/>
              </a:endParaRPr>
            </a:p>
          </p:txBody>
        </p:sp>
      </p:grp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1EB4D6D3-111A-D8BB-8D58-FD2856C07451}"/>
              </a:ext>
            </a:extLst>
          </p:cNvPr>
          <p:cNvSpPr/>
          <p:nvPr/>
        </p:nvSpPr>
        <p:spPr>
          <a:xfrm rot="5400000">
            <a:off x="807705" y="4479214"/>
            <a:ext cx="427146" cy="42454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3204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51886-DBDB-3723-672C-F29D7B81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4F885-4B05-96C6-9722-57D09C1B5919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  <a:defRPr sz="3600">
                <a:solidFill>
                  <a:srgbClr val="FFFFFF"/>
                </a:solidFill>
                <a:latin typeface="Times New Roman"/>
              </a:defRPr>
            </a:pPr>
            <a:r>
              <a:rPr lang="en-GB" b="1" dirty="0">
                <a:latin typeface="+mj-lt"/>
              </a:rPr>
              <a:t>Acknowledgements</a:t>
            </a:r>
            <a:endParaRPr b="1" dirty="0">
              <a:latin typeface="+mj-lt"/>
            </a:endParaRP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485F1BA-5D5F-0596-9DA6-67233548F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315" y="644769"/>
            <a:ext cx="3657600" cy="1071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12C9A7-972C-99F9-A580-6B46FF833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52715"/>
            <a:ext cx="2336628" cy="464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4A8025-62EE-EC7B-D948-71018CFD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2" t="16720" b="11482"/>
          <a:stretch>
            <a:fillRect/>
          </a:stretch>
        </p:blipFill>
        <p:spPr>
          <a:xfrm>
            <a:off x="8905502" y="699872"/>
            <a:ext cx="2798818" cy="7704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45F454-529E-C8B0-96FA-A2A55EE886CC}"/>
              </a:ext>
            </a:extLst>
          </p:cNvPr>
          <p:cNvSpPr txBox="1"/>
          <p:nvPr/>
        </p:nvSpPr>
        <p:spPr>
          <a:xfrm>
            <a:off x="145143" y="1211696"/>
            <a:ext cx="2123875" cy="5375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GB" sz="2800" b="1" dirty="0">
                <a:latin typeface="+mj-lt"/>
              </a:rPr>
              <a:t>Narita Group</a:t>
            </a:r>
            <a:endParaRPr lang="en-GB" dirty="0">
              <a:latin typeface="+mj-lt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Masashi Narita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Masako Narita</a:t>
            </a:r>
          </a:p>
          <a:p>
            <a:pPr>
              <a:lnSpc>
                <a:spcPct val="110000"/>
              </a:lnSpc>
            </a:pPr>
            <a:r>
              <a:rPr lang="en-GB" sz="2000" b="1" dirty="0">
                <a:latin typeface="+mj-lt"/>
              </a:rPr>
              <a:t>Adelyne Chan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George Skalka-Hall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Ioana Olan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Andrew Young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Tetsuya Handa</a:t>
            </a:r>
          </a:p>
          <a:p>
            <a:pPr>
              <a:lnSpc>
                <a:spcPct val="110000"/>
              </a:lnSpc>
            </a:pPr>
            <a:r>
              <a:rPr lang="en-GB" sz="2000" dirty="0" err="1">
                <a:latin typeface="+mj-lt"/>
              </a:rPr>
              <a:t>Iannish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Sadien</a:t>
            </a:r>
            <a:endParaRPr lang="en-GB" sz="2000" dirty="0">
              <a:latin typeface="+mj-lt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Jack Zhan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Sheng Yuan Kan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Aya Kimoto</a:t>
            </a:r>
          </a:p>
          <a:p>
            <a:pPr>
              <a:lnSpc>
                <a:spcPct val="110000"/>
              </a:lnSpc>
            </a:pPr>
            <a:r>
              <a:rPr lang="en-GB" sz="2000" dirty="0" err="1">
                <a:latin typeface="+mj-lt"/>
              </a:rPr>
              <a:t>Sandali</a:t>
            </a:r>
            <a:r>
              <a:rPr lang="en-GB" sz="2000" dirty="0">
                <a:latin typeface="+mj-lt"/>
              </a:rPr>
              <a:t> </a:t>
            </a:r>
            <a:r>
              <a:rPr lang="en-GB" sz="2000" dirty="0" err="1">
                <a:latin typeface="+mj-lt"/>
              </a:rPr>
              <a:t>Malandkar</a:t>
            </a:r>
            <a:endParaRPr lang="en-GB" sz="2000" dirty="0">
              <a:latin typeface="+mj-lt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Weijia Gao</a:t>
            </a:r>
          </a:p>
          <a:p>
            <a:pPr>
              <a:lnSpc>
                <a:spcPct val="110000"/>
              </a:lnSpc>
            </a:pPr>
            <a:r>
              <a:rPr lang="en-GB" sz="2000" dirty="0">
                <a:latin typeface="+mj-lt"/>
              </a:rPr>
              <a:t>Ali Kara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386373-E5B7-960A-D067-F3EC1B2E2C52}"/>
              </a:ext>
            </a:extLst>
          </p:cNvPr>
          <p:cNvSpPr txBox="1"/>
          <p:nvPr/>
        </p:nvSpPr>
        <p:spPr>
          <a:xfrm>
            <a:off x="7654579" y="5322211"/>
            <a:ext cx="4114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+mj-lt"/>
              </a:rPr>
              <a:t>THANK YOU</a:t>
            </a:r>
            <a:endParaRPr lang="en-GB" sz="60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802CE5-FAAB-0D76-52D1-6BD96A7BEE42}"/>
              </a:ext>
            </a:extLst>
          </p:cNvPr>
          <p:cNvSpPr txBox="1"/>
          <p:nvPr/>
        </p:nvSpPr>
        <p:spPr>
          <a:xfrm>
            <a:off x="8196942" y="1955704"/>
            <a:ext cx="36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+mj-lt"/>
              </a:rPr>
              <a:t>Maike De La Roche &amp; Nixon Niyonzima</a:t>
            </a:r>
            <a:endParaRPr lang="en-GB" sz="2400" dirty="0"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35CA3B5-E084-CF99-975A-DB4614812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846" y="1781111"/>
            <a:ext cx="4912126" cy="3683193"/>
          </a:xfrm>
          <a:prstGeom prst="rect">
            <a:avLst/>
          </a:prstGeom>
        </p:spPr>
      </p:pic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9CD6DF38-6950-1D6A-5847-EFB40CDE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530523"/>
            <a:ext cx="579120" cy="327477"/>
          </a:xfrm>
        </p:spPr>
        <p:txBody>
          <a:bodyPr/>
          <a:lstStyle/>
          <a:p>
            <a:fld id="{C1FF6DA9-008F-8B48-92A6-B652298478BF}" type="slidenum">
              <a:rPr lang="en-US" sz="1600" b="1" smtClean="0">
                <a:latin typeface="+mj-lt"/>
              </a:rPr>
              <a:t>16</a:t>
            </a:fld>
            <a:endParaRPr lang="en-US" sz="1600" b="1"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AF5F8E-48BF-7879-24F5-C50FA468D026}"/>
              </a:ext>
            </a:extLst>
          </p:cNvPr>
          <p:cNvSpPr/>
          <p:nvPr/>
        </p:nvSpPr>
        <p:spPr>
          <a:xfrm>
            <a:off x="143330" y="2471056"/>
            <a:ext cx="1652814" cy="36512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80E19-6640-AE8F-10FC-7BE8AB68CE2D}"/>
              </a:ext>
            </a:extLst>
          </p:cNvPr>
          <p:cNvSpPr txBox="1"/>
          <p:nvPr/>
        </p:nvSpPr>
        <p:spPr>
          <a:xfrm>
            <a:off x="7329630" y="4056648"/>
            <a:ext cx="4807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+mj-lt"/>
              </a:rPr>
              <a:t>HR &amp; Research Administration Team</a:t>
            </a:r>
            <a:endParaRPr lang="en-GB" sz="2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12B63-09C4-F478-996E-C8850742FB13}"/>
              </a:ext>
            </a:extLst>
          </p:cNvPr>
          <p:cNvSpPr txBox="1"/>
          <p:nvPr/>
        </p:nvSpPr>
        <p:spPr>
          <a:xfrm>
            <a:off x="7738869" y="3181733"/>
            <a:ext cx="4136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+mj-lt"/>
              </a:rPr>
              <a:t>Academic Development Team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77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14145</TotalTime>
  <Words>593</Words>
  <Application>Microsoft Office PowerPoint</Application>
  <PresentationFormat>Widescreen</PresentationFormat>
  <Paragraphs>125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Walterrickman</dc:creator>
  <cp:keywords/>
  <dc:description>generated using python-pptx</dc:description>
  <cp:lastModifiedBy>Walter Odur</cp:lastModifiedBy>
  <cp:revision>33</cp:revision>
  <dcterms:created xsi:type="dcterms:W3CDTF">2013-01-27T09:14:16Z</dcterms:created>
  <dcterms:modified xsi:type="dcterms:W3CDTF">2026-10-06T20:33:30Z</dcterms:modified>
  <cp:category/>
</cp:coreProperties>
</file>